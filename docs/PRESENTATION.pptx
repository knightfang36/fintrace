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 1 | 0:00–0:25</a:t>
            </a:r>
          </a:p>
          <a:p>
            <a:r>
              <a:t>SCREEN CUE: Start with team on camera, then this title.</a:t>
            </a:r>
          </a:p>
          <a:p/>
          <a:p>
            <a:r>
              <a:t>Introduce all four presenters. We help reviewers inspect transfer patterns and understand why an account needs attention. Today: overview, evidence, connections and a human review decision.</a:t>
            </a:r>
          </a:p>
          <a:p/>
          <a:p>
            <a:r>
              <a:t>Full spoken script: docs/PRESENTATION.md. Replace presenter labels with your names. Use actual on-screen counts; do not claim accuracy. Review actions use a disposable demo database.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 1 | 0:25–1:10</a:t>
            </a:r>
          </a:p>
          <a:p>
            <a:r>
              <a:t>SCREEN CUE: Show this slide, then switch to Overview. Keep synthetic-data notice and snapshot visible.</a:t>
            </a:r>
          </a:p>
          <a:p/>
          <a:p>
            <a:r>
              <a:t>Several transfers together can reveal a pattern that one payment cannot. These are research records, not real customer data. The selected snapshot uses only transfers before an explicit time limit.</a:t>
            </a:r>
          </a:p>
          <a:p/>
          <a:p>
            <a:r>
              <a:t>Full spoken script: docs/PRESENTATION.md. Replace presenter labels with your names. Use actual on-screen counts; do not claim accuracy. Review actions use a disposable demo database.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 1 | 1:10–1:35</a:t>
            </a:r>
          </a:p>
          <a:p>
            <a:r>
              <a:t>SCREEN CUE: Use this diagram briefly. Then return to Overview.</a:t>
            </a:r>
          </a:p>
          <a:p/>
          <a:p>
            <a:r>
              <a:t>Data preparation preserves source references and separates labels. Rules and chronological graph checks produce evidence. Fixed policy points prioritize review. The reviewer can inspect and record an action.</a:t>
            </a:r>
          </a:p>
          <a:p/>
          <a:p>
            <a:r>
              <a:t>Full spoken script: docs/PRESENTATION.md. Replace presenter labels with your names. Use actual on-screen counts; do not claim accuracy. Review actions use a disposable demo database.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 1 | 1:35–2:15</a:t>
            </a:r>
          </a:p>
          <a:p>
            <a:r>
              <a:t>SCREEN CUE: LIVE APP: Overview → cards → priority distribution → patterns → coverage expander.</a:t>
            </a:r>
          </a:p>
          <a:p/>
          <a:p>
            <a:r>
              <a:t>Use the actual selected snapshot counts. Explain review accounts, alerts and supporting findings. Show coverage: unavailable or incomplete analysis is not a clean result. Hand over to Person 2.</a:t>
            </a:r>
          </a:p>
          <a:p/>
          <a:p>
            <a:r>
              <a:t>Full spoken script: docs/PRESENTATION.md. Replace presenter labels with your names. Use actual on-screen counts; do not claim accuracy. Review actions use a disposable demo database.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 2 | 2:15–3:55</a:t>
            </a:r>
          </a:p>
          <a:p>
            <a:r>
              <a:t>SCREEN CUE: LIVE APP: Alert review → search rehearsed account → Inspect an alert → Evidence. Expand measurements and thresholds.</a:t>
            </a:r>
          </a:p>
          <a:p/>
          <a:p>
            <a:r>
              <a:t>Search and filter the queue. Choose the rehearsed account. Show the explanation, window and transfer references. Compare one observed measurement to its policy threshold. Point out the evidence JSON download and limitations; it is not a regulatory report.</a:t>
            </a:r>
          </a:p>
          <a:p/>
          <a:p>
            <a:r>
              <a:t>Full spoken script: docs/PRESENTATION.md. Replace presenter labels with your names. Use actual on-screen counts; do not claim accuracy. Review actions use a disposable demo database.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 2 | 3:55–4:35</a:t>
            </a:r>
          </a:p>
          <a:p>
            <a:r>
              <a:t>SCREEN CUE: LIVE APP: Priority ledger → score → family points → suppressed correlations if present.</a:t>
            </a:r>
          </a:p>
          <a:p/>
          <a:p>
            <a:r>
              <a:t>Fixed weights show where the score comes from. Related findings are grouped so the same type of clue is not counted repeatedly. The score is capped at 100. Eighty means review sooner, not eighty percent likely to be crime. Hand over to Person 3.</a:t>
            </a:r>
          </a:p>
          <a:p/>
          <a:p>
            <a:r>
              <a:t>Full spoken script: docs/PRESENTATION.md. Replace presenter labels with your names. Use actual on-screen counts; do not claim accuracy. Review actions use a disposable demo database.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 3 | 4:35–5:35</a:t>
            </a:r>
          </a:p>
          <a:p>
            <a:r>
              <a:t>SCREEN CUE: LIVE APP: Account evidence → same bank/account pair → Observed transfers → Load graph-window transfers.</a:t>
            </a:r>
          </a:p>
          <a:p/>
          <a:p>
            <a:r>
              <a:t>Show priority, findings and linked alerts. Load the linked graph-window transfers. Totals remain separate by currency. They are not balances or a full account history. Verified customer information remains unavailable rather than fabricated.</a:t>
            </a:r>
          </a:p>
          <a:p/>
          <a:p>
            <a:r>
              <a:t>Full spoken script: docs/PRESENTATION.md. Replace presenter labels with your names. Use actual on-screen counts; do not claim accuracy. Review actions use a disposable demo database.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 3 | 5:35–6:55</a:t>
            </a:r>
          </a:p>
          <a:p>
            <a:r>
              <a:t>SCREEN CUE: LIVE APP: Network explorer → same Seed account → Highlight finding → hover → Direction → hops 1 to 2 → displayed-transfer table.</a:t>
            </a:r>
          </a:p>
          <a:p/>
          <a:p>
            <a:r>
              <a:t>Dots are accounts; arrows are transfers. Orange edges identify selected evidence. Show exact references in the table. Connections alone are not chronological money flow: later transfers cannot explain earlier ones. Equal timestamps do not establish an order. Disclose partial searches and display caps.</a:t>
            </a:r>
          </a:p>
          <a:p/>
          <a:p>
            <a:r>
              <a:t>Full spoken script: docs/PRESENTATION.md. Replace presenter labels with your names. Use actual on-screen counts; do not claim accuracy. Review actions use a disposable demo database.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 4 | 6:55–7:55</a:t>
            </a:r>
          </a:p>
          <a:p>
            <a:r>
              <a:t>SCREEN CUE: LIVE APP, disposable database: Alert review → Review &amp; audit → In review → Reviewer + reason → Save audited review once → show history.</a:t>
            </a:r>
          </a:p>
          <a:p/>
          <a:p>
            <a:r>
              <a:t>Use an open alert in a disposable demo copy. Save the reviewer and reason, then show the new event. Old events remain. Refresh does not submit twice. This is alert review, not complete case management. No automatic account freeze, bank contact or regulatory filing.</a:t>
            </a:r>
          </a:p>
          <a:p/>
          <a:p>
            <a:r>
              <a:t>Full spoken script: docs/PRESENTATION.md. Replace presenter labels with your names. Use actual on-screen counts; do not claim accuracy. Review actions use a disposable demo database.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 4 | 7:55–8:45</a:t>
            </a:r>
          </a:p>
          <a:p>
            <a:r>
              <a:t>SCREEN CUE: Show this slide, then a fresh terminal test result. Do not type a fake result or memorize a test count.</a:t>
            </a:r>
          </a:p>
          <a:p/>
          <a:p>
            <a:r>
              <a:t>Labels are separated from detector inputs. Source references and exact amounts are preserved. Invalid rows go to quarantine. Automated checks cover time limits, evidence, workflow and the interface. Passing tests does not establish detection accuracy.</a:t>
            </a:r>
          </a:p>
          <a:p/>
          <a:p>
            <a:r>
              <a:t>Full spoken script: docs/PRESENTATION.md. Replace presenter labels with your names. Use actual on-screen counts; do not claim accuracy. Review actions use a disposable demo database.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 4 | 8:45–9:05</a:t>
            </a:r>
          </a:p>
          <a:p>
            <a:r>
              <a:t>SCREEN CUE: Use this slide for the scope summary. Do not demonstrate placeholder routes.</a:t>
            </a:r>
          </a:p>
          <a:p/>
          <a:p>
            <a:r>
              <a:t>Implemented: preparation, deterministic rules, bounded graphs, explainable priorities, four investigation screens and audited alert review. Future: complete cases, general reports, replay and benchmark evaluation. No accuracy percentage claimed.</a:t>
            </a:r>
          </a:p>
          <a:p/>
          <a:p>
            <a:r>
              <a:t>Full spoken script: docs/PRESENTATION.md. Replace presenter labels with your names. Use actual on-screen counts; do not claim accuracy. Review actions use a disposable demo database.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 9:05–9:20</a:t>
            </a:r>
          </a:p>
          <a:p>
            <a:r>
              <a:t>SCREEN CUE: Close together on camera, or keep this closing slide visible.</a:t>
            </a:r>
          </a:p>
          <a:p/>
          <a:p>
            <a:r>
              <a:t>Our aim is simple: do not just flag a pattern. Show the evidence, explain the priority and let a person make an informed decision. That is FinTrace. Thank you.</a:t>
            </a:r>
          </a:p>
          <a:p/>
          <a:p>
            <a:r>
              <a:t>Full spoken script: docs/PRESENTATION.md. Replace presenter labels with your names. Use actual on-screen counts; do not claim accuracy. Review actions use a disposable demo database.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7F7"/>
        </a:solidFill>
        <a:effectLst/>
      </p:bgPr>
    </p:bg>
    <p:spTree>
      <p:nvGrpSpPr>
        <p:cNvPr id="1" name=""/>
        <p:cNvGrpSpPr/>
        <p:nvPr/>
      </p:nvGrpSpPr>
      <p:grpSpPr/>
      <p:sp>
        <p:nvSpPr>
          <p:cNvPr id="2" name="Rounded Rectangle 1"/>
          <p:cNvSpPr/>
          <p:nvPr/>
        </p:nvSpPr>
        <p:spPr>
          <a:xfrm>
            <a:off x="-508000" y="0"/>
            <a:ext cx="12131040" cy="762000"/>
          </a:xfrm>
          <a:prstGeom prst="roundRect">
            <a:avLst>
              <a:gd name="adj" fmla="val 50000"/>
            </a:avLst>
          </a:prstGeom>
          <a:solidFill>
            <a:srgbClr val="F8D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8000" y="0"/>
            <a:ext cx="11003280" cy="76200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8000" y="0"/>
            <a:ext cx="9875520" cy="762000"/>
          </a:xfrm>
          <a:prstGeom prst="roundRect">
            <a:avLst>
              <a:gd name="adj" fmla="val 50000"/>
            </a:avLst>
          </a:prstGeom>
          <a:solidFill>
            <a:srgbClr val="F6A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8000" y="0"/>
            <a:ext cx="8747760" cy="762000"/>
          </a:xfrm>
          <a:prstGeom prst="roundRect">
            <a:avLst>
              <a:gd name="adj" fmla="val 50000"/>
            </a:avLst>
          </a:prstGeom>
          <a:solidFill>
            <a:srgbClr val="F68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8000" y="0"/>
            <a:ext cx="7620000" cy="762000"/>
          </a:xfrm>
          <a:prstGeom prst="roundRect">
            <a:avLst>
              <a:gd name="adj" fmla="val 50000"/>
            </a:avLst>
          </a:prstGeom>
          <a:solidFill>
            <a:srgbClr val="F47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8000" y="0"/>
            <a:ext cx="6492240" cy="76200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rot="18900000">
            <a:off x="792480" y="2651760"/>
            <a:ext cx="843280" cy="29464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rot="2700000">
            <a:off x="792480" y="2651760"/>
            <a:ext cx="843280" cy="29464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58720" y="2458720"/>
            <a:ext cx="11297920" cy="2193747"/>
          </a:xfrm>
          <a:prstGeom prst="rect">
            <a:avLst/>
          </a:prstGeom>
          <a:noFill/>
        </p:spPr>
        <p:txBody>
          <a:bodyPr wrap="none" lIns="0" rIns="0" tIns="0" bIns="0">
            <a:spAutoFit/>
          </a:bodyPr>
          <a:lstStyle/>
          <a:p>
            <a:pPr>
              <a:lnSpc>
                <a:spcPct val="117000"/>
              </a:lnSpc>
              <a:spcBef>
                <a:spcPts val="0"/>
              </a:spcBef>
              <a:spcAft>
                <a:spcPts val="0"/>
              </a:spcAft>
              <a:defRPr sz="7040" b="1">
                <a:solidFill>
                  <a:srgbClr val="262626"/>
                </a:solidFill>
                <a:latin typeface="Liberation Sans"/>
              </a:defRPr>
            </a:pPr>
            <a:r>
              <a:t>FinTrace</a:t>
            </a:r>
          </a:p>
          <a:p>
            <a:pPr>
              <a:lnSpc>
                <a:spcPct val="117000"/>
              </a:lnSpc>
              <a:spcBef>
                <a:spcPts val="0"/>
              </a:spcBef>
              <a:spcAft>
                <a:spcPts val="0"/>
              </a:spcAft>
              <a:defRPr sz="7040" b="1">
                <a:solidFill>
                  <a:srgbClr val="262626"/>
                </a:solidFill>
                <a:latin typeface="Liberation Sans"/>
              </a:defRPr>
            </a:pPr>
            <a:r>
              <a:t>Follow the evidence.</a:t>
            </a:r>
          </a:p>
        </p:txBody>
      </p:sp>
      <p:sp>
        <p:nvSpPr>
          <p:cNvPr id="11" name="Rectangle 10"/>
          <p:cNvSpPr/>
          <p:nvPr/>
        </p:nvSpPr>
        <p:spPr>
          <a:xfrm>
            <a:off x="0" y="7487919"/>
            <a:ext cx="13888720" cy="10160"/>
          </a:xfrm>
          <a:prstGeom prst="rect">
            <a:avLst/>
          </a:prstGeom>
          <a:solidFill>
            <a:srgbClr val="858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1840" y="7701280"/>
            <a:ext cx="711200" cy="320040"/>
          </a:xfrm>
          <a:prstGeom prst="rect">
            <a:avLst/>
          </a:prstGeom>
          <a:noFill/>
        </p:spPr>
        <p:txBody>
          <a:bodyPr wrap="none" lIns="0" tIns="0">
            <a:spAutoFit/>
          </a:bodyPr>
          <a:lstStyle/>
          <a:p>
            <a:pPr>
              <a:defRPr sz="1800" b="1">
                <a:solidFill>
                  <a:srgbClr val="F2620F"/>
                </a:solidFill>
                <a:latin typeface="Liberation Sans"/>
              </a:defRPr>
            </a:pPr>
            <a:r>
              <a:t>01.</a:t>
            </a:r>
          </a:p>
        </p:txBody>
      </p:sp>
      <p:sp>
        <p:nvSpPr>
          <p:cNvPr id="13" name="TextBox 12"/>
          <p:cNvSpPr txBox="1"/>
          <p:nvPr/>
        </p:nvSpPr>
        <p:spPr>
          <a:xfrm>
            <a:off x="2458720" y="7701280"/>
            <a:ext cx="6096000" cy="320040"/>
          </a:xfrm>
          <a:prstGeom prst="rect">
            <a:avLst/>
          </a:prstGeom>
          <a:noFill/>
        </p:spPr>
        <p:txBody>
          <a:bodyPr wrap="none" lIns="0" tIns="0">
            <a:spAutoFit/>
          </a:bodyPr>
          <a:lstStyle/>
          <a:p>
            <a:pPr>
              <a:defRPr sz="1400" b="0">
                <a:solidFill>
                  <a:srgbClr val="575757"/>
                </a:solidFill>
                <a:latin typeface="Liberation Sans"/>
              </a:defRPr>
            </a:pPr>
            <a:r>
              <a:t>FINTRACE / PROJECT DEMO</a:t>
            </a:r>
          </a:p>
        </p:txBody>
      </p:sp>
      <p:sp>
        <p:nvSpPr>
          <p:cNvPr id="14" name="TextBox 13"/>
          <p:cNvSpPr txBox="1"/>
          <p:nvPr/>
        </p:nvSpPr>
        <p:spPr>
          <a:xfrm>
            <a:off x="11887200" y="7701280"/>
            <a:ext cx="2032000" cy="320040"/>
          </a:xfrm>
          <a:prstGeom prst="rect">
            <a:avLst/>
          </a:prstGeom>
          <a:noFill/>
        </p:spPr>
        <p:txBody>
          <a:bodyPr wrap="none" lIns="0" tIns="0">
            <a:spAutoFit/>
          </a:bodyPr>
          <a:lstStyle/>
          <a:p>
            <a:pPr>
              <a:defRPr sz="1400" b="0">
                <a:solidFill>
                  <a:srgbClr val="262626"/>
                </a:solidFill>
                <a:latin typeface="Liberation Sans"/>
              </a:defRPr>
            </a:pPr>
            <a:r>
              <a:t>PERSON 1</a:t>
            </a:r>
          </a:p>
        </p:txBody>
      </p:sp>
      <p:sp>
        <p:nvSpPr>
          <p:cNvPr id="15" name="TextBox 14"/>
          <p:cNvSpPr txBox="1"/>
          <p:nvPr/>
        </p:nvSpPr>
        <p:spPr>
          <a:xfrm>
            <a:off x="2458720" y="4927600"/>
            <a:ext cx="10972800" cy="838606"/>
          </a:xfrm>
          <a:prstGeom prst="rect">
            <a:avLst/>
          </a:prstGeom>
          <a:noFill/>
        </p:spPr>
        <p:txBody>
          <a:bodyPr wrap="none" lIns="0" rIns="0" tIns="0" bIns="0">
            <a:spAutoFit/>
          </a:bodyPr>
          <a:lstStyle/>
          <a:p>
            <a:pPr>
              <a:lnSpc>
                <a:spcPct val="117000"/>
              </a:lnSpc>
              <a:spcBef>
                <a:spcPts val="0"/>
              </a:spcBef>
              <a:spcAft>
                <a:spcPts val="0"/>
              </a:spcAft>
              <a:defRPr sz="2480" b="0">
                <a:solidFill>
                  <a:srgbClr val="262626"/>
                </a:solidFill>
                <a:latin typeface="Liberation Sans"/>
              </a:defRPr>
            </a:pPr>
            <a:r>
              <a:t>Explainable transaction investigation</a:t>
            </a:r>
          </a:p>
          <a:p>
            <a:pPr>
              <a:lnSpc>
                <a:spcPct val="117000"/>
              </a:lnSpc>
              <a:spcBef>
                <a:spcPts val="0"/>
              </a:spcBef>
              <a:spcAft>
                <a:spcPts val="0"/>
              </a:spcAft>
              <a:defRPr sz="2480" b="0">
                <a:solidFill>
                  <a:srgbClr val="262626"/>
                </a:solidFill>
                <a:latin typeface="Liberation Sans"/>
              </a:defRPr>
            </a:pPr>
            <a:r>
              <a:t>IBM synthetic data · Rules and graphs · Human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7F7"/>
        </a:solidFill>
        <a:effectLst/>
      </p:bgPr>
    </p:bg>
    <p:spTree>
      <p:nvGrpSpPr>
        <p:cNvPr id="1" name=""/>
        <p:cNvGrpSpPr/>
        <p:nvPr/>
      </p:nvGrpSpPr>
      <p:grpSpPr/>
      <p:sp>
        <p:nvSpPr>
          <p:cNvPr id="2" name="Rounded Rectangle 1"/>
          <p:cNvSpPr/>
          <p:nvPr/>
        </p:nvSpPr>
        <p:spPr>
          <a:xfrm>
            <a:off x="-508000" y="0"/>
            <a:ext cx="12131040" cy="762000"/>
          </a:xfrm>
          <a:prstGeom prst="roundRect">
            <a:avLst>
              <a:gd name="adj" fmla="val 50000"/>
            </a:avLst>
          </a:prstGeom>
          <a:solidFill>
            <a:srgbClr val="F8D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8000" y="0"/>
            <a:ext cx="11003280" cy="76200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8000" y="0"/>
            <a:ext cx="9875520" cy="762000"/>
          </a:xfrm>
          <a:prstGeom prst="roundRect">
            <a:avLst>
              <a:gd name="adj" fmla="val 50000"/>
            </a:avLst>
          </a:prstGeom>
          <a:solidFill>
            <a:srgbClr val="F6A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8000" y="0"/>
            <a:ext cx="8747760" cy="762000"/>
          </a:xfrm>
          <a:prstGeom prst="roundRect">
            <a:avLst>
              <a:gd name="adj" fmla="val 50000"/>
            </a:avLst>
          </a:prstGeom>
          <a:solidFill>
            <a:srgbClr val="F68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8000" y="0"/>
            <a:ext cx="7620000" cy="762000"/>
          </a:xfrm>
          <a:prstGeom prst="roundRect">
            <a:avLst>
              <a:gd name="adj" fmla="val 50000"/>
            </a:avLst>
          </a:prstGeom>
          <a:solidFill>
            <a:srgbClr val="F47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8000" y="0"/>
            <a:ext cx="6492240" cy="76200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rot="18900000">
            <a:off x="792480" y="1524000"/>
            <a:ext cx="843280" cy="29464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rot="2700000">
            <a:off x="792480" y="1524000"/>
            <a:ext cx="843280" cy="29464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58720" y="1320800"/>
            <a:ext cx="11297920" cy="826719"/>
          </a:xfrm>
          <a:prstGeom prst="rect">
            <a:avLst/>
          </a:prstGeom>
          <a:noFill/>
        </p:spPr>
        <p:txBody>
          <a:bodyPr wrap="none" lIns="0" rIns="0" tIns="0" bIns="0">
            <a:spAutoFit/>
          </a:bodyPr>
          <a:lstStyle/>
          <a:p>
            <a:pPr>
              <a:lnSpc>
                <a:spcPct val="117000"/>
              </a:lnSpc>
              <a:spcBef>
                <a:spcPts val="0"/>
              </a:spcBef>
              <a:spcAft>
                <a:spcPts val="0"/>
              </a:spcAft>
              <a:defRPr sz="4880" b="1">
                <a:solidFill>
                  <a:srgbClr val="262626"/>
                </a:solidFill>
                <a:latin typeface="Liberation Sans"/>
              </a:defRPr>
            </a:pPr>
            <a:r>
              <a:t>One payment is not the story.</a:t>
            </a:r>
          </a:p>
        </p:txBody>
      </p:sp>
      <p:sp>
        <p:nvSpPr>
          <p:cNvPr id="11" name="Rectangle 10"/>
          <p:cNvSpPr/>
          <p:nvPr/>
        </p:nvSpPr>
        <p:spPr>
          <a:xfrm>
            <a:off x="0" y="7487919"/>
            <a:ext cx="13888720" cy="10160"/>
          </a:xfrm>
          <a:prstGeom prst="rect">
            <a:avLst/>
          </a:prstGeom>
          <a:solidFill>
            <a:srgbClr val="858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1840" y="7701280"/>
            <a:ext cx="711200" cy="320040"/>
          </a:xfrm>
          <a:prstGeom prst="rect">
            <a:avLst/>
          </a:prstGeom>
          <a:noFill/>
        </p:spPr>
        <p:txBody>
          <a:bodyPr wrap="none" lIns="0" tIns="0">
            <a:spAutoFit/>
          </a:bodyPr>
          <a:lstStyle/>
          <a:p>
            <a:pPr>
              <a:defRPr sz="1800" b="1">
                <a:solidFill>
                  <a:srgbClr val="F2620F"/>
                </a:solidFill>
                <a:latin typeface="Liberation Sans"/>
              </a:defRPr>
            </a:pPr>
            <a:r>
              <a:t>02.</a:t>
            </a:r>
          </a:p>
        </p:txBody>
      </p:sp>
      <p:sp>
        <p:nvSpPr>
          <p:cNvPr id="13" name="TextBox 12"/>
          <p:cNvSpPr txBox="1"/>
          <p:nvPr/>
        </p:nvSpPr>
        <p:spPr>
          <a:xfrm>
            <a:off x="2458720" y="7701280"/>
            <a:ext cx="6096000" cy="320040"/>
          </a:xfrm>
          <a:prstGeom prst="rect">
            <a:avLst/>
          </a:prstGeom>
          <a:noFill/>
        </p:spPr>
        <p:txBody>
          <a:bodyPr wrap="none" lIns="0" tIns="0">
            <a:spAutoFit/>
          </a:bodyPr>
          <a:lstStyle/>
          <a:p>
            <a:pPr>
              <a:defRPr sz="1400" b="0">
                <a:solidFill>
                  <a:srgbClr val="575757"/>
                </a:solidFill>
                <a:latin typeface="Liberation Sans"/>
              </a:defRPr>
            </a:pPr>
            <a:r>
              <a:t>FINTRACE / PROJECT DEMO</a:t>
            </a:r>
          </a:p>
        </p:txBody>
      </p:sp>
      <p:sp>
        <p:nvSpPr>
          <p:cNvPr id="14" name="TextBox 13"/>
          <p:cNvSpPr txBox="1"/>
          <p:nvPr/>
        </p:nvSpPr>
        <p:spPr>
          <a:xfrm>
            <a:off x="11887200" y="7701280"/>
            <a:ext cx="2032000" cy="320040"/>
          </a:xfrm>
          <a:prstGeom prst="rect">
            <a:avLst/>
          </a:prstGeom>
          <a:noFill/>
        </p:spPr>
        <p:txBody>
          <a:bodyPr wrap="none" lIns="0" tIns="0">
            <a:spAutoFit/>
          </a:bodyPr>
          <a:lstStyle/>
          <a:p>
            <a:pPr>
              <a:defRPr sz="1400" b="0">
                <a:solidFill>
                  <a:srgbClr val="262626"/>
                </a:solidFill>
                <a:latin typeface="Liberation Sans"/>
              </a:defRPr>
            </a:pPr>
            <a:r>
              <a:t>PERSON 1</a:t>
            </a:r>
          </a:p>
        </p:txBody>
      </p:sp>
      <p:sp>
        <p:nvSpPr>
          <p:cNvPr id="15" name="TextBox 14"/>
          <p:cNvSpPr txBox="1"/>
          <p:nvPr/>
        </p:nvSpPr>
        <p:spPr>
          <a:xfrm>
            <a:off x="2458720" y="4064000"/>
            <a:ext cx="3386666" cy="446328"/>
          </a:xfrm>
          <a:prstGeom prst="rect">
            <a:avLst/>
          </a:prstGeom>
          <a:noFill/>
        </p:spPr>
        <p:txBody>
          <a:bodyPr wrap="none" lIns="0" rIns="0" tIns="0" bIns="0">
            <a:spAutoFit/>
          </a:bodyPr>
          <a:lstStyle/>
          <a:p>
            <a:pPr>
              <a:lnSpc>
                <a:spcPct val="117000"/>
              </a:lnSpc>
              <a:spcBef>
                <a:spcPts val="0"/>
              </a:spcBef>
              <a:spcAft>
                <a:spcPts val="0"/>
              </a:spcAft>
              <a:defRPr sz="2320" b="1">
                <a:solidFill>
                  <a:srgbClr val="262626"/>
                </a:solidFill>
                <a:latin typeface="Liberation Sans"/>
              </a:defRPr>
            </a:pPr>
            <a:r>
              <a:t>Many senders</a:t>
            </a:r>
          </a:p>
        </p:txBody>
      </p:sp>
      <p:sp>
        <p:nvSpPr>
          <p:cNvPr id="16" name="TextBox 15"/>
          <p:cNvSpPr txBox="1"/>
          <p:nvPr/>
        </p:nvSpPr>
        <p:spPr>
          <a:xfrm>
            <a:off x="2458720" y="4714240"/>
            <a:ext cx="3386666" cy="695960"/>
          </a:xfrm>
          <a:prstGeom prst="rect">
            <a:avLst/>
          </a:prstGeom>
          <a:noFill/>
        </p:spPr>
        <p:txBody>
          <a:bodyPr wrap="none" lIns="0" rIns="0" tIns="0" bIns="0">
            <a:spAutoFit/>
          </a:bodyPr>
          <a:lstStyle/>
          <a:p>
            <a:pPr>
              <a:lnSpc>
                <a:spcPct val="117000"/>
              </a:lnSpc>
              <a:spcBef>
                <a:spcPts val="0"/>
              </a:spcBef>
              <a:spcAft>
                <a:spcPts val="0"/>
              </a:spcAft>
              <a:defRPr sz="2000" b="0">
                <a:solidFill>
                  <a:srgbClr val="262626"/>
                </a:solidFill>
                <a:latin typeface="Liberation Sans"/>
              </a:defRPr>
            </a:pPr>
            <a:r>
              <a:t>Several accounts pay one</a:t>
            </a:r>
          </a:p>
          <a:p>
            <a:pPr>
              <a:lnSpc>
                <a:spcPct val="117000"/>
              </a:lnSpc>
              <a:spcBef>
                <a:spcPts val="0"/>
              </a:spcBef>
              <a:spcAft>
                <a:spcPts val="0"/>
              </a:spcAft>
              <a:defRPr sz="2000" b="0">
                <a:solidFill>
                  <a:srgbClr val="262626"/>
                </a:solidFill>
                <a:latin typeface="Liberation Sans"/>
              </a:defRPr>
            </a:pPr>
            <a:r>
              <a:t>account.</a:t>
            </a:r>
          </a:p>
        </p:txBody>
      </p:sp>
      <p:sp>
        <p:nvSpPr>
          <p:cNvPr id="17" name="TextBox 16"/>
          <p:cNvSpPr txBox="1"/>
          <p:nvPr/>
        </p:nvSpPr>
        <p:spPr>
          <a:xfrm>
            <a:off x="6404186" y="4064000"/>
            <a:ext cx="3386666" cy="446328"/>
          </a:xfrm>
          <a:prstGeom prst="rect">
            <a:avLst/>
          </a:prstGeom>
          <a:noFill/>
        </p:spPr>
        <p:txBody>
          <a:bodyPr wrap="none" lIns="0" rIns="0" tIns="0" bIns="0">
            <a:spAutoFit/>
          </a:bodyPr>
          <a:lstStyle/>
          <a:p>
            <a:pPr>
              <a:lnSpc>
                <a:spcPct val="117000"/>
              </a:lnSpc>
              <a:spcBef>
                <a:spcPts val="0"/>
              </a:spcBef>
              <a:spcAft>
                <a:spcPts val="0"/>
              </a:spcAft>
              <a:defRPr sz="2320" b="1">
                <a:solidFill>
                  <a:srgbClr val="262626"/>
                </a:solidFill>
                <a:latin typeface="Liberation Sans"/>
              </a:defRPr>
            </a:pPr>
            <a:r>
              <a:t>Fast forwarding</a:t>
            </a:r>
          </a:p>
        </p:txBody>
      </p:sp>
      <p:sp>
        <p:nvSpPr>
          <p:cNvPr id="18" name="TextBox 17"/>
          <p:cNvSpPr txBox="1"/>
          <p:nvPr/>
        </p:nvSpPr>
        <p:spPr>
          <a:xfrm>
            <a:off x="6404186" y="4714240"/>
            <a:ext cx="3386666" cy="695960"/>
          </a:xfrm>
          <a:prstGeom prst="rect">
            <a:avLst/>
          </a:prstGeom>
          <a:noFill/>
        </p:spPr>
        <p:txBody>
          <a:bodyPr wrap="none" lIns="0" rIns="0" tIns="0" bIns="0">
            <a:spAutoFit/>
          </a:bodyPr>
          <a:lstStyle/>
          <a:p>
            <a:pPr>
              <a:lnSpc>
                <a:spcPct val="117000"/>
              </a:lnSpc>
              <a:spcBef>
                <a:spcPts val="0"/>
              </a:spcBef>
              <a:spcAft>
                <a:spcPts val="0"/>
              </a:spcAft>
              <a:defRPr sz="2000" b="0">
                <a:solidFill>
                  <a:srgbClr val="262626"/>
                </a:solidFill>
                <a:latin typeface="Liberation Sans"/>
              </a:defRPr>
            </a:pPr>
            <a:r>
              <a:t>Money arrives, then moves</a:t>
            </a:r>
          </a:p>
          <a:p>
            <a:pPr>
              <a:lnSpc>
                <a:spcPct val="117000"/>
              </a:lnSpc>
              <a:spcBef>
                <a:spcPts val="0"/>
              </a:spcBef>
              <a:spcAft>
                <a:spcPts val="0"/>
              </a:spcAft>
              <a:defRPr sz="2000" b="0">
                <a:solidFill>
                  <a:srgbClr val="262626"/>
                </a:solidFill>
                <a:latin typeface="Liberation Sans"/>
              </a:defRPr>
            </a:pPr>
            <a:r>
              <a:t>onward.</a:t>
            </a:r>
          </a:p>
        </p:txBody>
      </p:sp>
      <p:sp>
        <p:nvSpPr>
          <p:cNvPr id="19" name="TextBox 18"/>
          <p:cNvSpPr txBox="1"/>
          <p:nvPr/>
        </p:nvSpPr>
        <p:spPr>
          <a:xfrm>
            <a:off x="10349653" y="4064000"/>
            <a:ext cx="3386666" cy="446328"/>
          </a:xfrm>
          <a:prstGeom prst="rect">
            <a:avLst/>
          </a:prstGeom>
          <a:noFill/>
        </p:spPr>
        <p:txBody>
          <a:bodyPr wrap="none" lIns="0" rIns="0" tIns="0" bIns="0">
            <a:spAutoFit/>
          </a:bodyPr>
          <a:lstStyle/>
          <a:p>
            <a:pPr>
              <a:lnSpc>
                <a:spcPct val="117000"/>
              </a:lnSpc>
              <a:spcBef>
                <a:spcPts val="0"/>
              </a:spcBef>
              <a:spcAft>
                <a:spcPts val="0"/>
              </a:spcAft>
              <a:defRPr sz="2320" b="1">
                <a:solidFill>
                  <a:srgbClr val="262626"/>
                </a:solidFill>
                <a:latin typeface="Liberation Sans"/>
              </a:defRPr>
            </a:pPr>
            <a:r>
              <a:t>Connected transfers</a:t>
            </a:r>
          </a:p>
        </p:txBody>
      </p:sp>
      <p:sp>
        <p:nvSpPr>
          <p:cNvPr id="20" name="TextBox 19"/>
          <p:cNvSpPr txBox="1"/>
          <p:nvPr/>
        </p:nvSpPr>
        <p:spPr>
          <a:xfrm>
            <a:off x="10349653" y="4714240"/>
            <a:ext cx="3386666" cy="695960"/>
          </a:xfrm>
          <a:prstGeom prst="rect">
            <a:avLst/>
          </a:prstGeom>
          <a:noFill/>
        </p:spPr>
        <p:txBody>
          <a:bodyPr wrap="none" lIns="0" rIns="0" tIns="0" bIns="0">
            <a:spAutoFit/>
          </a:bodyPr>
          <a:lstStyle/>
          <a:p>
            <a:pPr>
              <a:lnSpc>
                <a:spcPct val="117000"/>
              </a:lnSpc>
              <a:spcBef>
                <a:spcPts val="0"/>
              </a:spcBef>
              <a:spcAft>
                <a:spcPts val="0"/>
              </a:spcAft>
              <a:defRPr sz="2000" b="0">
                <a:solidFill>
                  <a:srgbClr val="262626"/>
                </a:solidFill>
                <a:latin typeface="Liberation Sans"/>
              </a:defRPr>
            </a:pPr>
            <a:r>
              <a:t>A sequence links several</a:t>
            </a:r>
          </a:p>
          <a:p>
            <a:pPr>
              <a:lnSpc>
                <a:spcPct val="117000"/>
              </a:lnSpc>
              <a:spcBef>
                <a:spcPts val="0"/>
              </a:spcBef>
              <a:spcAft>
                <a:spcPts val="0"/>
              </a:spcAft>
              <a:defRPr sz="2000" b="0">
                <a:solidFill>
                  <a:srgbClr val="262626"/>
                </a:solidFill>
                <a:latin typeface="Liberation Sans"/>
              </a:defRPr>
            </a:pPr>
            <a:r>
              <a:t>accounts.</a:t>
            </a:r>
          </a:p>
        </p:txBody>
      </p:sp>
      <p:sp>
        <p:nvSpPr>
          <p:cNvPr id="21" name="TextBox 20"/>
          <p:cNvSpPr txBox="1"/>
          <p:nvPr/>
        </p:nvSpPr>
        <p:spPr>
          <a:xfrm>
            <a:off x="2458720" y="6431280"/>
            <a:ext cx="11074400" cy="422554"/>
          </a:xfrm>
          <a:prstGeom prst="rect">
            <a:avLst/>
          </a:prstGeom>
          <a:noFill/>
        </p:spPr>
        <p:txBody>
          <a:bodyPr wrap="none" lIns="0" rIns="0" tIns="0" bIns="0">
            <a:spAutoFit/>
          </a:bodyPr>
          <a:lstStyle/>
          <a:p>
            <a:pPr>
              <a:lnSpc>
                <a:spcPct val="117000"/>
              </a:lnSpc>
              <a:spcBef>
                <a:spcPts val="0"/>
              </a:spcBef>
              <a:spcAft>
                <a:spcPts val="0"/>
              </a:spcAft>
              <a:defRPr sz="2160" b="1">
                <a:solidFill>
                  <a:srgbClr val="262626"/>
                </a:solidFill>
                <a:latin typeface="Liberation Sans"/>
              </a:defRPr>
            </a:pPr>
            <a:r>
              <a:t>A pattern is a reason to look closer - not proof of wrongdoing.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7F7"/>
        </a:solidFill>
        <a:effectLst/>
      </p:bgPr>
    </p:bg>
    <p:spTree>
      <p:nvGrpSpPr>
        <p:cNvPr id="1" name=""/>
        <p:cNvGrpSpPr/>
        <p:nvPr/>
      </p:nvGrpSpPr>
      <p:grpSpPr/>
      <p:sp>
        <p:nvSpPr>
          <p:cNvPr id="2" name="Rounded Rectangle 1"/>
          <p:cNvSpPr/>
          <p:nvPr/>
        </p:nvSpPr>
        <p:spPr>
          <a:xfrm>
            <a:off x="-508000" y="0"/>
            <a:ext cx="12131040" cy="762000"/>
          </a:xfrm>
          <a:prstGeom prst="roundRect">
            <a:avLst>
              <a:gd name="adj" fmla="val 50000"/>
            </a:avLst>
          </a:prstGeom>
          <a:solidFill>
            <a:srgbClr val="F8D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8000" y="0"/>
            <a:ext cx="11003280" cy="76200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8000" y="0"/>
            <a:ext cx="9875520" cy="762000"/>
          </a:xfrm>
          <a:prstGeom prst="roundRect">
            <a:avLst>
              <a:gd name="adj" fmla="val 50000"/>
            </a:avLst>
          </a:prstGeom>
          <a:solidFill>
            <a:srgbClr val="F6A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8000" y="0"/>
            <a:ext cx="8747760" cy="762000"/>
          </a:xfrm>
          <a:prstGeom prst="roundRect">
            <a:avLst>
              <a:gd name="adj" fmla="val 50000"/>
            </a:avLst>
          </a:prstGeom>
          <a:solidFill>
            <a:srgbClr val="F68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8000" y="0"/>
            <a:ext cx="7620000" cy="762000"/>
          </a:xfrm>
          <a:prstGeom prst="roundRect">
            <a:avLst>
              <a:gd name="adj" fmla="val 50000"/>
            </a:avLst>
          </a:prstGeom>
          <a:solidFill>
            <a:srgbClr val="F47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8000" y="0"/>
            <a:ext cx="6492240" cy="76200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rot="18900000">
            <a:off x="792480" y="1524000"/>
            <a:ext cx="843280" cy="29464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rot="2700000">
            <a:off x="792480" y="1524000"/>
            <a:ext cx="843280" cy="29464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58720" y="1320800"/>
            <a:ext cx="11297920" cy="826719"/>
          </a:xfrm>
          <a:prstGeom prst="rect">
            <a:avLst/>
          </a:prstGeom>
          <a:noFill/>
        </p:spPr>
        <p:txBody>
          <a:bodyPr wrap="none" lIns="0" rIns="0" tIns="0" bIns="0">
            <a:spAutoFit/>
          </a:bodyPr>
          <a:lstStyle/>
          <a:p>
            <a:pPr>
              <a:lnSpc>
                <a:spcPct val="117000"/>
              </a:lnSpc>
              <a:spcBef>
                <a:spcPts val="0"/>
              </a:spcBef>
              <a:spcAft>
                <a:spcPts val="0"/>
              </a:spcAft>
              <a:defRPr sz="4880" b="1">
                <a:solidFill>
                  <a:srgbClr val="262626"/>
                </a:solidFill>
                <a:latin typeface="Liberation Sans"/>
              </a:defRPr>
            </a:pPr>
            <a:r>
              <a:t>A clear path from data to review</a:t>
            </a:r>
          </a:p>
        </p:txBody>
      </p:sp>
      <p:sp>
        <p:nvSpPr>
          <p:cNvPr id="11" name="Rectangle 10"/>
          <p:cNvSpPr/>
          <p:nvPr/>
        </p:nvSpPr>
        <p:spPr>
          <a:xfrm>
            <a:off x="0" y="7487919"/>
            <a:ext cx="13888720" cy="10160"/>
          </a:xfrm>
          <a:prstGeom prst="rect">
            <a:avLst/>
          </a:prstGeom>
          <a:solidFill>
            <a:srgbClr val="858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1840" y="7701280"/>
            <a:ext cx="711200" cy="320040"/>
          </a:xfrm>
          <a:prstGeom prst="rect">
            <a:avLst/>
          </a:prstGeom>
          <a:noFill/>
        </p:spPr>
        <p:txBody>
          <a:bodyPr wrap="none" lIns="0" tIns="0">
            <a:spAutoFit/>
          </a:bodyPr>
          <a:lstStyle/>
          <a:p>
            <a:pPr>
              <a:defRPr sz="1800" b="1">
                <a:solidFill>
                  <a:srgbClr val="F2620F"/>
                </a:solidFill>
                <a:latin typeface="Liberation Sans"/>
              </a:defRPr>
            </a:pPr>
            <a:r>
              <a:t>03.</a:t>
            </a:r>
          </a:p>
        </p:txBody>
      </p:sp>
      <p:sp>
        <p:nvSpPr>
          <p:cNvPr id="13" name="TextBox 12"/>
          <p:cNvSpPr txBox="1"/>
          <p:nvPr/>
        </p:nvSpPr>
        <p:spPr>
          <a:xfrm>
            <a:off x="2458720" y="7701280"/>
            <a:ext cx="6096000" cy="320040"/>
          </a:xfrm>
          <a:prstGeom prst="rect">
            <a:avLst/>
          </a:prstGeom>
          <a:noFill/>
        </p:spPr>
        <p:txBody>
          <a:bodyPr wrap="none" lIns="0" tIns="0">
            <a:spAutoFit/>
          </a:bodyPr>
          <a:lstStyle/>
          <a:p>
            <a:pPr>
              <a:defRPr sz="1400" b="0">
                <a:solidFill>
                  <a:srgbClr val="575757"/>
                </a:solidFill>
                <a:latin typeface="Liberation Sans"/>
              </a:defRPr>
            </a:pPr>
            <a:r>
              <a:t>FINTRACE / PROJECT DEMO</a:t>
            </a:r>
          </a:p>
        </p:txBody>
      </p:sp>
      <p:sp>
        <p:nvSpPr>
          <p:cNvPr id="14" name="TextBox 13"/>
          <p:cNvSpPr txBox="1"/>
          <p:nvPr/>
        </p:nvSpPr>
        <p:spPr>
          <a:xfrm>
            <a:off x="11887200" y="7701280"/>
            <a:ext cx="2032000" cy="320040"/>
          </a:xfrm>
          <a:prstGeom prst="rect">
            <a:avLst/>
          </a:prstGeom>
          <a:noFill/>
        </p:spPr>
        <p:txBody>
          <a:bodyPr wrap="none" lIns="0" tIns="0">
            <a:spAutoFit/>
          </a:bodyPr>
          <a:lstStyle/>
          <a:p>
            <a:pPr>
              <a:defRPr sz="1400" b="0">
                <a:solidFill>
                  <a:srgbClr val="262626"/>
                </a:solidFill>
                <a:latin typeface="Liberation Sans"/>
              </a:defRPr>
            </a:pPr>
            <a:r>
              <a:t>PERSON 1</a:t>
            </a:r>
          </a:p>
        </p:txBody>
      </p:sp>
      <p:sp>
        <p:nvSpPr>
          <p:cNvPr id="15" name="Rectangle 14"/>
          <p:cNvSpPr/>
          <p:nvPr/>
        </p:nvSpPr>
        <p:spPr>
          <a:xfrm>
            <a:off x="2458720" y="3810000"/>
            <a:ext cx="2540000" cy="71120"/>
          </a:xfrm>
          <a:prstGeom prst="rect">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58720" y="4165600"/>
            <a:ext cx="2540000" cy="470103"/>
          </a:xfrm>
          <a:prstGeom prst="rect">
            <a:avLst/>
          </a:prstGeom>
          <a:noFill/>
        </p:spPr>
        <p:txBody>
          <a:bodyPr wrap="none" lIns="0" rIns="0" tIns="0" bIns="0">
            <a:spAutoFit/>
          </a:bodyPr>
          <a:lstStyle/>
          <a:p>
            <a:pPr>
              <a:lnSpc>
                <a:spcPct val="117000"/>
              </a:lnSpc>
              <a:spcBef>
                <a:spcPts val="0"/>
              </a:spcBef>
              <a:spcAft>
                <a:spcPts val="0"/>
              </a:spcAft>
              <a:defRPr sz="2480" b="1">
                <a:solidFill>
                  <a:srgbClr val="262626"/>
                </a:solidFill>
                <a:latin typeface="Liberation Sans"/>
              </a:defRPr>
            </a:pPr>
            <a:r>
              <a:t>Prepare</a:t>
            </a:r>
          </a:p>
        </p:txBody>
      </p:sp>
      <p:sp>
        <p:nvSpPr>
          <p:cNvPr id="17" name="TextBox 16"/>
          <p:cNvSpPr txBox="1"/>
          <p:nvPr/>
        </p:nvSpPr>
        <p:spPr>
          <a:xfrm>
            <a:off x="2458720" y="4765040"/>
            <a:ext cx="2540000" cy="672185"/>
          </a:xfrm>
          <a:prstGeom prst="rect">
            <a:avLst/>
          </a:prstGeom>
          <a:noFill/>
        </p:spPr>
        <p:txBody>
          <a:bodyPr wrap="none" lIns="0" rIns="0" tIns="0" bIns="0">
            <a:spAutoFit/>
          </a:bodyPr>
          <a:lstStyle/>
          <a:p>
            <a:pPr>
              <a:lnSpc>
                <a:spcPct val="117000"/>
              </a:lnSpc>
              <a:spcBef>
                <a:spcPts val="0"/>
              </a:spcBef>
              <a:spcAft>
                <a:spcPts val="0"/>
              </a:spcAft>
              <a:defRPr sz="1920" b="0">
                <a:solidFill>
                  <a:srgbClr val="262626"/>
                </a:solidFill>
                <a:latin typeface="Liberation Sans"/>
              </a:defRPr>
            </a:pPr>
            <a:r>
              <a:t>Validate source</a:t>
            </a:r>
          </a:p>
          <a:p>
            <a:pPr>
              <a:lnSpc>
                <a:spcPct val="117000"/>
              </a:lnSpc>
              <a:spcBef>
                <a:spcPts val="0"/>
              </a:spcBef>
              <a:spcAft>
                <a:spcPts val="0"/>
              </a:spcAft>
              <a:defRPr sz="1920" b="0">
                <a:solidFill>
                  <a:srgbClr val="262626"/>
                </a:solidFill>
                <a:latin typeface="Liberation Sans"/>
              </a:defRPr>
            </a:pPr>
            <a:r>
              <a:t>and keep references</a:t>
            </a:r>
          </a:p>
        </p:txBody>
      </p:sp>
      <p:sp>
        <p:nvSpPr>
          <p:cNvPr id="18" name="TextBox 17"/>
          <p:cNvSpPr txBox="1"/>
          <p:nvPr/>
        </p:nvSpPr>
        <p:spPr>
          <a:xfrm>
            <a:off x="5008880" y="4135120"/>
            <a:ext cx="355600" cy="481990"/>
          </a:xfrm>
          <a:prstGeom prst="rect">
            <a:avLst/>
          </a:prstGeom>
          <a:noFill/>
        </p:spPr>
        <p:txBody>
          <a:bodyPr wrap="none" lIns="0" rIns="0" tIns="0" bIns="0">
            <a:spAutoFit/>
          </a:bodyPr>
          <a:lstStyle/>
          <a:p>
            <a:pPr>
              <a:lnSpc>
                <a:spcPct val="117000"/>
              </a:lnSpc>
              <a:spcBef>
                <a:spcPts val="0"/>
              </a:spcBef>
              <a:spcAft>
                <a:spcPts val="0"/>
              </a:spcAft>
              <a:defRPr sz="2560" b="1">
                <a:solidFill>
                  <a:srgbClr val="F2620F"/>
                </a:solidFill>
                <a:latin typeface="Liberation Sans"/>
              </a:defRPr>
            </a:pPr>
            <a:r>
              <a:t>→</a:t>
            </a:r>
          </a:p>
        </p:txBody>
      </p:sp>
      <p:sp>
        <p:nvSpPr>
          <p:cNvPr id="19" name="Rectangle 18"/>
          <p:cNvSpPr/>
          <p:nvPr/>
        </p:nvSpPr>
        <p:spPr>
          <a:xfrm>
            <a:off x="5364480" y="3810000"/>
            <a:ext cx="2540000" cy="71120"/>
          </a:xfrm>
          <a:prstGeom prst="rect">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64480" y="4165600"/>
            <a:ext cx="2540000" cy="470103"/>
          </a:xfrm>
          <a:prstGeom prst="rect">
            <a:avLst/>
          </a:prstGeom>
          <a:noFill/>
        </p:spPr>
        <p:txBody>
          <a:bodyPr wrap="none" lIns="0" rIns="0" tIns="0" bIns="0">
            <a:spAutoFit/>
          </a:bodyPr>
          <a:lstStyle/>
          <a:p>
            <a:pPr>
              <a:lnSpc>
                <a:spcPct val="117000"/>
              </a:lnSpc>
              <a:spcBef>
                <a:spcPts val="0"/>
              </a:spcBef>
              <a:spcAft>
                <a:spcPts val="0"/>
              </a:spcAft>
              <a:defRPr sz="2480" b="1">
                <a:solidFill>
                  <a:srgbClr val="262626"/>
                </a:solidFill>
                <a:latin typeface="Liberation Sans"/>
              </a:defRPr>
            </a:pPr>
            <a:r>
              <a:t>Find patterns</a:t>
            </a:r>
          </a:p>
        </p:txBody>
      </p:sp>
      <p:sp>
        <p:nvSpPr>
          <p:cNvPr id="21" name="TextBox 20"/>
          <p:cNvSpPr txBox="1"/>
          <p:nvPr/>
        </p:nvSpPr>
        <p:spPr>
          <a:xfrm>
            <a:off x="5364480" y="4765040"/>
            <a:ext cx="2540000" cy="672185"/>
          </a:xfrm>
          <a:prstGeom prst="rect">
            <a:avLst/>
          </a:prstGeom>
          <a:noFill/>
        </p:spPr>
        <p:txBody>
          <a:bodyPr wrap="none" lIns="0" rIns="0" tIns="0" bIns="0">
            <a:spAutoFit/>
          </a:bodyPr>
          <a:lstStyle/>
          <a:p>
            <a:pPr>
              <a:lnSpc>
                <a:spcPct val="117000"/>
              </a:lnSpc>
              <a:spcBef>
                <a:spcPts val="0"/>
              </a:spcBef>
              <a:spcAft>
                <a:spcPts val="0"/>
              </a:spcAft>
              <a:defRPr sz="1920" b="0">
                <a:solidFill>
                  <a:srgbClr val="262626"/>
                </a:solidFill>
                <a:latin typeface="Liberation Sans"/>
              </a:defRPr>
            </a:pPr>
            <a:r>
              <a:t>Rules + time-ordered</a:t>
            </a:r>
          </a:p>
          <a:p>
            <a:pPr>
              <a:lnSpc>
                <a:spcPct val="117000"/>
              </a:lnSpc>
              <a:spcBef>
                <a:spcPts val="0"/>
              </a:spcBef>
              <a:spcAft>
                <a:spcPts val="0"/>
              </a:spcAft>
              <a:defRPr sz="1920" b="0">
                <a:solidFill>
                  <a:srgbClr val="262626"/>
                </a:solidFill>
                <a:latin typeface="Liberation Sans"/>
              </a:defRPr>
            </a:pPr>
            <a:r>
              <a:t>graph checks</a:t>
            </a:r>
          </a:p>
        </p:txBody>
      </p:sp>
      <p:sp>
        <p:nvSpPr>
          <p:cNvPr id="22" name="TextBox 21"/>
          <p:cNvSpPr txBox="1"/>
          <p:nvPr/>
        </p:nvSpPr>
        <p:spPr>
          <a:xfrm>
            <a:off x="7914639" y="4135120"/>
            <a:ext cx="355600" cy="481990"/>
          </a:xfrm>
          <a:prstGeom prst="rect">
            <a:avLst/>
          </a:prstGeom>
          <a:noFill/>
        </p:spPr>
        <p:txBody>
          <a:bodyPr wrap="none" lIns="0" rIns="0" tIns="0" bIns="0">
            <a:spAutoFit/>
          </a:bodyPr>
          <a:lstStyle/>
          <a:p>
            <a:pPr>
              <a:lnSpc>
                <a:spcPct val="117000"/>
              </a:lnSpc>
              <a:spcBef>
                <a:spcPts val="0"/>
              </a:spcBef>
              <a:spcAft>
                <a:spcPts val="0"/>
              </a:spcAft>
              <a:defRPr sz="2560" b="1">
                <a:solidFill>
                  <a:srgbClr val="F2620F"/>
                </a:solidFill>
                <a:latin typeface="Liberation Sans"/>
              </a:defRPr>
            </a:pPr>
            <a:r>
              <a:t>→</a:t>
            </a:r>
          </a:p>
        </p:txBody>
      </p:sp>
      <p:sp>
        <p:nvSpPr>
          <p:cNvPr id="23" name="Rectangle 22"/>
          <p:cNvSpPr/>
          <p:nvPr/>
        </p:nvSpPr>
        <p:spPr>
          <a:xfrm>
            <a:off x="8270240" y="3810000"/>
            <a:ext cx="2540000" cy="71120"/>
          </a:xfrm>
          <a:prstGeom prst="rect">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0240" y="4165600"/>
            <a:ext cx="2540000" cy="470103"/>
          </a:xfrm>
          <a:prstGeom prst="rect">
            <a:avLst/>
          </a:prstGeom>
          <a:noFill/>
        </p:spPr>
        <p:txBody>
          <a:bodyPr wrap="none" lIns="0" rIns="0" tIns="0" bIns="0">
            <a:spAutoFit/>
          </a:bodyPr>
          <a:lstStyle/>
          <a:p>
            <a:pPr>
              <a:lnSpc>
                <a:spcPct val="117000"/>
              </a:lnSpc>
              <a:spcBef>
                <a:spcPts val="0"/>
              </a:spcBef>
              <a:spcAft>
                <a:spcPts val="0"/>
              </a:spcAft>
              <a:defRPr sz="2480" b="1">
                <a:solidFill>
                  <a:srgbClr val="262626"/>
                </a:solidFill>
                <a:latin typeface="Liberation Sans"/>
              </a:defRPr>
            </a:pPr>
            <a:r>
              <a:t>Prioritize</a:t>
            </a:r>
          </a:p>
        </p:txBody>
      </p:sp>
      <p:sp>
        <p:nvSpPr>
          <p:cNvPr id="25" name="TextBox 24"/>
          <p:cNvSpPr txBox="1"/>
          <p:nvPr/>
        </p:nvSpPr>
        <p:spPr>
          <a:xfrm>
            <a:off x="8270240" y="4765040"/>
            <a:ext cx="2540000" cy="672185"/>
          </a:xfrm>
          <a:prstGeom prst="rect">
            <a:avLst/>
          </a:prstGeom>
          <a:noFill/>
        </p:spPr>
        <p:txBody>
          <a:bodyPr wrap="none" lIns="0" rIns="0" tIns="0" bIns="0">
            <a:spAutoFit/>
          </a:bodyPr>
          <a:lstStyle/>
          <a:p>
            <a:pPr>
              <a:lnSpc>
                <a:spcPct val="117000"/>
              </a:lnSpc>
              <a:spcBef>
                <a:spcPts val="0"/>
              </a:spcBef>
              <a:spcAft>
                <a:spcPts val="0"/>
              </a:spcAft>
              <a:defRPr sz="1920" b="0">
                <a:solidFill>
                  <a:srgbClr val="262626"/>
                </a:solidFill>
                <a:latin typeface="Liberation Sans"/>
              </a:defRPr>
            </a:pPr>
            <a:r>
              <a:t>Fixed points with</a:t>
            </a:r>
          </a:p>
          <a:p>
            <a:pPr>
              <a:lnSpc>
                <a:spcPct val="117000"/>
              </a:lnSpc>
              <a:spcBef>
                <a:spcPts val="0"/>
              </a:spcBef>
              <a:spcAft>
                <a:spcPts val="0"/>
              </a:spcAft>
              <a:defRPr sz="1920" b="0">
                <a:solidFill>
                  <a:srgbClr val="262626"/>
                </a:solidFill>
                <a:latin typeface="Liberation Sans"/>
              </a:defRPr>
            </a:pPr>
            <a:r>
              <a:t>visible contributions</a:t>
            </a:r>
          </a:p>
        </p:txBody>
      </p:sp>
      <p:sp>
        <p:nvSpPr>
          <p:cNvPr id="26" name="TextBox 25"/>
          <p:cNvSpPr txBox="1"/>
          <p:nvPr/>
        </p:nvSpPr>
        <p:spPr>
          <a:xfrm>
            <a:off x="10820400" y="4135120"/>
            <a:ext cx="355600" cy="481990"/>
          </a:xfrm>
          <a:prstGeom prst="rect">
            <a:avLst/>
          </a:prstGeom>
          <a:noFill/>
        </p:spPr>
        <p:txBody>
          <a:bodyPr wrap="none" lIns="0" rIns="0" tIns="0" bIns="0">
            <a:spAutoFit/>
          </a:bodyPr>
          <a:lstStyle/>
          <a:p>
            <a:pPr>
              <a:lnSpc>
                <a:spcPct val="117000"/>
              </a:lnSpc>
              <a:spcBef>
                <a:spcPts val="0"/>
              </a:spcBef>
              <a:spcAft>
                <a:spcPts val="0"/>
              </a:spcAft>
              <a:defRPr sz="2560" b="1">
                <a:solidFill>
                  <a:srgbClr val="F2620F"/>
                </a:solidFill>
                <a:latin typeface="Liberation Sans"/>
              </a:defRPr>
            </a:pPr>
            <a:r>
              <a:t>→</a:t>
            </a:r>
          </a:p>
        </p:txBody>
      </p:sp>
      <p:sp>
        <p:nvSpPr>
          <p:cNvPr id="27" name="Rectangle 26"/>
          <p:cNvSpPr/>
          <p:nvPr/>
        </p:nvSpPr>
        <p:spPr>
          <a:xfrm>
            <a:off x="11176000" y="3810000"/>
            <a:ext cx="2540000" cy="71120"/>
          </a:xfrm>
          <a:prstGeom prst="rect">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176000" y="4165600"/>
            <a:ext cx="2540000" cy="470103"/>
          </a:xfrm>
          <a:prstGeom prst="rect">
            <a:avLst/>
          </a:prstGeom>
          <a:noFill/>
        </p:spPr>
        <p:txBody>
          <a:bodyPr wrap="none" lIns="0" rIns="0" tIns="0" bIns="0">
            <a:spAutoFit/>
          </a:bodyPr>
          <a:lstStyle/>
          <a:p>
            <a:pPr>
              <a:lnSpc>
                <a:spcPct val="117000"/>
              </a:lnSpc>
              <a:spcBef>
                <a:spcPts val="0"/>
              </a:spcBef>
              <a:spcAft>
                <a:spcPts val="0"/>
              </a:spcAft>
              <a:defRPr sz="2480" b="1">
                <a:solidFill>
                  <a:srgbClr val="262626"/>
                </a:solidFill>
                <a:latin typeface="Liberation Sans"/>
              </a:defRPr>
            </a:pPr>
            <a:r>
              <a:t>Review</a:t>
            </a:r>
          </a:p>
        </p:txBody>
      </p:sp>
      <p:sp>
        <p:nvSpPr>
          <p:cNvPr id="29" name="TextBox 28"/>
          <p:cNvSpPr txBox="1"/>
          <p:nvPr/>
        </p:nvSpPr>
        <p:spPr>
          <a:xfrm>
            <a:off x="11176000" y="4765040"/>
            <a:ext cx="2540000" cy="672185"/>
          </a:xfrm>
          <a:prstGeom prst="rect">
            <a:avLst/>
          </a:prstGeom>
          <a:noFill/>
        </p:spPr>
        <p:txBody>
          <a:bodyPr wrap="none" lIns="0" rIns="0" tIns="0" bIns="0">
            <a:spAutoFit/>
          </a:bodyPr>
          <a:lstStyle/>
          <a:p>
            <a:pPr>
              <a:lnSpc>
                <a:spcPct val="117000"/>
              </a:lnSpc>
              <a:spcBef>
                <a:spcPts val="0"/>
              </a:spcBef>
              <a:spcAft>
                <a:spcPts val="0"/>
              </a:spcAft>
              <a:defRPr sz="1920" b="0">
                <a:solidFill>
                  <a:srgbClr val="262626"/>
                </a:solidFill>
                <a:latin typeface="Liberation Sans"/>
              </a:defRPr>
            </a:pPr>
            <a:r>
              <a:t>Inspect evidence</a:t>
            </a:r>
          </a:p>
          <a:p>
            <a:pPr>
              <a:lnSpc>
                <a:spcPct val="117000"/>
              </a:lnSpc>
              <a:spcBef>
                <a:spcPts val="0"/>
              </a:spcBef>
              <a:spcAft>
                <a:spcPts val="0"/>
              </a:spcAft>
              <a:defRPr sz="1920" b="0">
                <a:solidFill>
                  <a:srgbClr val="262626"/>
                </a:solidFill>
                <a:latin typeface="Liberation Sans"/>
              </a:defRPr>
            </a:pPr>
            <a:r>
              <a:t>and save a decision</a:t>
            </a:r>
          </a:p>
        </p:txBody>
      </p:sp>
      <p:sp>
        <p:nvSpPr>
          <p:cNvPr id="30" name="TextBox 29"/>
          <p:cNvSpPr txBox="1"/>
          <p:nvPr/>
        </p:nvSpPr>
        <p:spPr>
          <a:xfrm>
            <a:off x="2458720" y="6380480"/>
            <a:ext cx="11074400" cy="422554"/>
          </a:xfrm>
          <a:prstGeom prst="rect">
            <a:avLst/>
          </a:prstGeom>
          <a:noFill/>
        </p:spPr>
        <p:txBody>
          <a:bodyPr wrap="none" lIns="0" rIns="0" tIns="0" bIns="0">
            <a:spAutoFit/>
          </a:bodyPr>
          <a:lstStyle/>
          <a:p>
            <a:pPr>
              <a:lnSpc>
                <a:spcPct val="117000"/>
              </a:lnSpc>
              <a:spcBef>
                <a:spcPts val="0"/>
              </a:spcBef>
              <a:spcAft>
                <a:spcPts val="0"/>
              </a:spcAft>
              <a:defRPr sz="2160" b="1">
                <a:solidFill>
                  <a:srgbClr val="262626"/>
                </a:solidFill>
                <a:latin typeface="Liberation Sans"/>
              </a:defRPr>
            </a:pPr>
            <a:r>
              <a:t>Benchmark labels stay outside detection and scoring.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7F7"/>
        </a:solidFill>
        <a:effectLst/>
      </p:bgPr>
    </p:bg>
    <p:spTree>
      <p:nvGrpSpPr>
        <p:cNvPr id="1" name=""/>
        <p:cNvGrpSpPr/>
        <p:nvPr/>
      </p:nvGrpSpPr>
      <p:grpSpPr/>
      <p:sp>
        <p:nvSpPr>
          <p:cNvPr id="2" name="Rounded Rectangle 1"/>
          <p:cNvSpPr/>
          <p:nvPr/>
        </p:nvSpPr>
        <p:spPr>
          <a:xfrm>
            <a:off x="-508000" y="0"/>
            <a:ext cx="12131040" cy="762000"/>
          </a:xfrm>
          <a:prstGeom prst="roundRect">
            <a:avLst>
              <a:gd name="adj" fmla="val 50000"/>
            </a:avLst>
          </a:prstGeom>
          <a:solidFill>
            <a:srgbClr val="F8D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8000" y="0"/>
            <a:ext cx="11003280" cy="76200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8000" y="0"/>
            <a:ext cx="9875520" cy="762000"/>
          </a:xfrm>
          <a:prstGeom prst="roundRect">
            <a:avLst>
              <a:gd name="adj" fmla="val 50000"/>
            </a:avLst>
          </a:prstGeom>
          <a:solidFill>
            <a:srgbClr val="F6A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8000" y="0"/>
            <a:ext cx="8747760" cy="762000"/>
          </a:xfrm>
          <a:prstGeom prst="roundRect">
            <a:avLst>
              <a:gd name="adj" fmla="val 50000"/>
            </a:avLst>
          </a:prstGeom>
          <a:solidFill>
            <a:srgbClr val="F68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8000" y="0"/>
            <a:ext cx="7620000" cy="762000"/>
          </a:xfrm>
          <a:prstGeom prst="roundRect">
            <a:avLst>
              <a:gd name="adj" fmla="val 50000"/>
            </a:avLst>
          </a:prstGeom>
          <a:solidFill>
            <a:srgbClr val="F47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8000" y="0"/>
            <a:ext cx="6492240" cy="76200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rot="18900000">
            <a:off x="792480" y="1524000"/>
            <a:ext cx="843280" cy="29464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rot="2700000">
            <a:off x="792480" y="1524000"/>
            <a:ext cx="843280" cy="29464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58720" y="1320800"/>
            <a:ext cx="11297920" cy="826719"/>
          </a:xfrm>
          <a:prstGeom prst="rect">
            <a:avLst/>
          </a:prstGeom>
          <a:noFill/>
        </p:spPr>
        <p:txBody>
          <a:bodyPr wrap="none" lIns="0" rIns="0" tIns="0" bIns="0">
            <a:spAutoFit/>
          </a:bodyPr>
          <a:lstStyle/>
          <a:p>
            <a:pPr>
              <a:lnSpc>
                <a:spcPct val="117000"/>
              </a:lnSpc>
              <a:spcBef>
                <a:spcPts val="0"/>
              </a:spcBef>
              <a:spcAft>
                <a:spcPts val="0"/>
              </a:spcAft>
              <a:defRPr sz="4880" b="1">
                <a:solidFill>
                  <a:srgbClr val="262626"/>
                </a:solidFill>
                <a:latin typeface="Liberation Sans"/>
              </a:defRPr>
            </a:pPr>
            <a:r>
              <a:t>Start with the review overview.</a:t>
            </a:r>
          </a:p>
        </p:txBody>
      </p:sp>
      <p:sp>
        <p:nvSpPr>
          <p:cNvPr id="11" name="Rectangle 10"/>
          <p:cNvSpPr/>
          <p:nvPr/>
        </p:nvSpPr>
        <p:spPr>
          <a:xfrm>
            <a:off x="0" y="7487919"/>
            <a:ext cx="13888720" cy="10160"/>
          </a:xfrm>
          <a:prstGeom prst="rect">
            <a:avLst/>
          </a:prstGeom>
          <a:solidFill>
            <a:srgbClr val="858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1840" y="7701280"/>
            <a:ext cx="711200" cy="320040"/>
          </a:xfrm>
          <a:prstGeom prst="rect">
            <a:avLst/>
          </a:prstGeom>
          <a:noFill/>
        </p:spPr>
        <p:txBody>
          <a:bodyPr wrap="none" lIns="0" tIns="0">
            <a:spAutoFit/>
          </a:bodyPr>
          <a:lstStyle/>
          <a:p>
            <a:pPr>
              <a:defRPr sz="1800" b="1">
                <a:solidFill>
                  <a:srgbClr val="F2620F"/>
                </a:solidFill>
                <a:latin typeface="Liberation Sans"/>
              </a:defRPr>
            </a:pPr>
            <a:r>
              <a:t>04.</a:t>
            </a:r>
          </a:p>
        </p:txBody>
      </p:sp>
      <p:sp>
        <p:nvSpPr>
          <p:cNvPr id="13" name="TextBox 12"/>
          <p:cNvSpPr txBox="1"/>
          <p:nvPr/>
        </p:nvSpPr>
        <p:spPr>
          <a:xfrm>
            <a:off x="2458720" y="7701280"/>
            <a:ext cx="6096000" cy="320040"/>
          </a:xfrm>
          <a:prstGeom prst="rect">
            <a:avLst/>
          </a:prstGeom>
          <a:noFill/>
        </p:spPr>
        <p:txBody>
          <a:bodyPr wrap="none" lIns="0" tIns="0">
            <a:spAutoFit/>
          </a:bodyPr>
          <a:lstStyle/>
          <a:p>
            <a:pPr>
              <a:defRPr sz="1400" b="0">
                <a:solidFill>
                  <a:srgbClr val="575757"/>
                </a:solidFill>
                <a:latin typeface="Liberation Sans"/>
              </a:defRPr>
            </a:pPr>
            <a:r>
              <a:t>FINTRACE / PROJECT DEMO</a:t>
            </a:r>
          </a:p>
        </p:txBody>
      </p:sp>
      <p:sp>
        <p:nvSpPr>
          <p:cNvPr id="14" name="TextBox 13"/>
          <p:cNvSpPr txBox="1"/>
          <p:nvPr/>
        </p:nvSpPr>
        <p:spPr>
          <a:xfrm>
            <a:off x="11887200" y="7701280"/>
            <a:ext cx="2032000" cy="320040"/>
          </a:xfrm>
          <a:prstGeom prst="rect">
            <a:avLst/>
          </a:prstGeom>
          <a:noFill/>
        </p:spPr>
        <p:txBody>
          <a:bodyPr wrap="none" lIns="0" tIns="0">
            <a:spAutoFit/>
          </a:bodyPr>
          <a:lstStyle/>
          <a:p>
            <a:pPr>
              <a:defRPr sz="1400" b="0">
                <a:solidFill>
                  <a:srgbClr val="262626"/>
                </a:solidFill>
                <a:latin typeface="Liberation Sans"/>
              </a:defRPr>
            </a:pPr>
            <a:r>
              <a:t>PERSON 1</a:t>
            </a:r>
          </a:p>
        </p:txBody>
      </p:sp>
      <p:sp>
        <p:nvSpPr>
          <p:cNvPr id="15" name="TextBox 14"/>
          <p:cNvSpPr txBox="1"/>
          <p:nvPr/>
        </p:nvSpPr>
        <p:spPr>
          <a:xfrm>
            <a:off x="2458720" y="4064000"/>
            <a:ext cx="3386666" cy="446328"/>
          </a:xfrm>
          <a:prstGeom prst="rect">
            <a:avLst/>
          </a:prstGeom>
          <a:noFill/>
        </p:spPr>
        <p:txBody>
          <a:bodyPr wrap="none" lIns="0" rIns="0" tIns="0" bIns="0">
            <a:spAutoFit/>
          </a:bodyPr>
          <a:lstStyle/>
          <a:p>
            <a:pPr>
              <a:lnSpc>
                <a:spcPct val="117000"/>
              </a:lnSpc>
              <a:spcBef>
                <a:spcPts val="0"/>
              </a:spcBef>
              <a:spcAft>
                <a:spcPts val="0"/>
              </a:spcAft>
              <a:defRPr sz="2320" b="1">
                <a:solidFill>
                  <a:srgbClr val="262626"/>
                </a:solidFill>
                <a:latin typeface="Liberation Sans"/>
              </a:defRPr>
            </a:pPr>
            <a:r>
              <a:t>See the workload</a:t>
            </a:r>
          </a:p>
        </p:txBody>
      </p:sp>
      <p:sp>
        <p:nvSpPr>
          <p:cNvPr id="16" name="TextBox 15"/>
          <p:cNvSpPr txBox="1"/>
          <p:nvPr/>
        </p:nvSpPr>
        <p:spPr>
          <a:xfrm>
            <a:off x="2458720" y="4714240"/>
            <a:ext cx="3386666" cy="695960"/>
          </a:xfrm>
          <a:prstGeom prst="rect">
            <a:avLst/>
          </a:prstGeom>
          <a:noFill/>
        </p:spPr>
        <p:txBody>
          <a:bodyPr wrap="none" lIns="0" rIns="0" tIns="0" bIns="0">
            <a:spAutoFit/>
          </a:bodyPr>
          <a:lstStyle/>
          <a:p>
            <a:pPr>
              <a:lnSpc>
                <a:spcPct val="117000"/>
              </a:lnSpc>
              <a:spcBef>
                <a:spcPts val="0"/>
              </a:spcBef>
              <a:spcAft>
                <a:spcPts val="0"/>
              </a:spcAft>
              <a:defRPr sz="2000" b="0">
                <a:solidFill>
                  <a:srgbClr val="262626"/>
                </a:solidFill>
                <a:latin typeface="Liberation Sans"/>
              </a:defRPr>
            </a:pPr>
            <a:r>
              <a:t>Accounts, alerts and</a:t>
            </a:r>
          </a:p>
          <a:p>
            <a:pPr>
              <a:lnSpc>
                <a:spcPct val="117000"/>
              </a:lnSpc>
              <a:spcBef>
                <a:spcPts val="0"/>
              </a:spcBef>
              <a:spcAft>
                <a:spcPts val="0"/>
              </a:spcAft>
              <a:defRPr sz="2000" b="0">
                <a:solidFill>
                  <a:srgbClr val="262626"/>
                </a:solidFill>
                <a:latin typeface="Liberation Sans"/>
              </a:defRPr>
            </a:pPr>
            <a:r>
              <a:t>supporting findings.</a:t>
            </a:r>
          </a:p>
        </p:txBody>
      </p:sp>
      <p:sp>
        <p:nvSpPr>
          <p:cNvPr id="17" name="TextBox 16"/>
          <p:cNvSpPr txBox="1"/>
          <p:nvPr/>
        </p:nvSpPr>
        <p:spPr>
          <a:xfrm>
            <a:off x="6404186" y="4064000"/>
            <a:ext cx="3386666" cy="446328"/>
          </a:xfrm>
          <a:prstGeom prst="rect">
            <a:avLst/>
          </a:prstGeom>
          <a:noFill/>
        </p:spPr>
        <p:txBody>
          <a:bodyPr wrap="none" lIns="0" rIns="0" tIns="0" bIns="0">
            <a:spAutoFit/>
          </a:bodyPr>
          <a:lstStyle/>
          <a:p>
            <a:pPr>
              <a:lnSpc>
                <a:spcPct val="117000"/>
              </a:lnSpc>
              <a:spcBef>
                <a:spcPts val="0"/>
              </a:spcBef>
              <a:spcAft>
                <a:spcPts val="0"/>
              </a:spcAft>
              <a:defRPr sz="2320" b="1">
                <a:solidFill>
                  <a:srgbClr val="262626"/>
                </a:solidFill>
                <a:latin typeface="Liberation Sans"/>
              </a:defRPr>
            </a:pPr>
            <a:r>
              <a:t>Choose a starting point</a:t>
            </a:r>
          </a:p>
        </p:txBody>
      </p:sp>
      <p:sp>
        <p:nvSpPr>
          <p:cNvPr id="18" name="TextBox 17"/>
          <p:cNvSpPr txBox="1"/>
          <p:nvPr/>
        </p:nvSpPr>
        <p:spPr>
          <a:xfrm>
            <a:off x="6404186" y="4714240"/>
            <a:ext cx="3386666" cy="695960"/>
          </a:xfrm>
          <a:prstGeom prst="rect">
            <a:avLst/>
          </a:prstGeom>
          <a:noFill/>
        </p:spPr>
        <p:txBody>
          <a:bodyPr wrap="none" lIns="0" rIns="0" tIns="0" bIns="0">
            <a:spAutoFit/>
          </a:bodyPr>
          <a:lstStyle/>
          <a:p>
            <a:pPr>
              <a:lnSpc>
                <a:spcPct val="117000"/>
              </a:lnSpc>
              <a:spcBef>
                <a:spcPts val="0"/>
              </a:spcBef>
              <a:spcAft>
                <a:spcPts val="0"/>
              </a:spcAft>
              <a:defRPr sz="2000" b="0">
                <a:solidFill>
                  <a:srgbClr val="262626"/>
                </a:solidFill>
                <a:latin typeface="Liberation Sans"/>
              </a:defRPr>
            </a:pPr>
            <a:r>
              <a:t>Priority bands and evidence</a:t>
            </a:r>
          </a:p>
          <a:p>
            <a:pPr>
              <a:lnSpc>
                <a:spcPct val="117000"/>
              </a:lnSpc>
              <a:spcBef>
                <a:spcPts val="0"/>
              </a:spcBef>
              <a:spcAft>
                <a:spcPts val="0"/>
              </a:spcAft>
              <a:defRPr sz="2000" b="0">
                <a:solidFill>
                  <a:srgbClr val="262626"/>
                </a:solidFill>
                <a:latin typeface="Liberation Sans"/>
              </a:defRPr>
            </a:pPr>
            <a:r>
              <a:t>families.</a:t>
            </a:r>
          </a:p>
        </p:txBody>
      </p:sp>
      <p:sp>
        <p:nvSpPr>
          <p:cNvPr id="19" name="TextBox 18"/>
          <p:cNvSpPr txBox="1"/>
          <p:nvPr/>
        </p:nvSpPr>
        <p:spPr>
          <a:xfrm>
            <a:off x="10349653" y="4064000"/>
            <a:ext cx="3386666" cy="446328"/>
          </a:xfrm>
          <a:prstGeom prst="rect">
            <a:avLst/>
          </a:prstGeom>
          <a:noFill/>
        </p:spPr>
        <p:txBody>
          <a:bodyPr wrap="none" lIns="0" rIns="0" tIns="0" bIns="0">
            <a:spAutoFit/>
          </a:bodyPr>
          <a:lstStyle/>
          <a:p>
            <a:pPr>
              <a:lnSpc>
                <a:spcPct val="117000"/>
              </a:lnSpc>
              <a:spcBef>
                <a:spcPts val="0"/>
              </a:spcBef>
              <a:spcAft>
                <a:spcPts val="0"/>
              </a:spcAft>
              <a:defRPr sz="2320" b="1">
                <a:solidFill>
                  <a:srgbClr val="262626"/>
                </a:solidFill>
                <a:latin typeface="Liberation Sans"/>
              </a:defRPr>
            </a:pPr>
            <a:r>
              <a:t>Read the limits</a:t>
            </a:r>
          </a:p>
        </p:txBody>
      </p:sp>
      <p:sp>
        <p:nvSpPr>
          <p:cNvPr id="20" name="TextBox 19"/>
          <p:cNvSpPr txBox="1"/>
          <p:nvPr/>
        </p:nvSpPr>
        <p:spPr>
          <a:xfrm>
            <a:off x="10349653" y="4714240"/>
            <a:ext cx="3386666" cy="695960"/>
          </a:xfrm>
          <a:prstGeom prst="rect">
            <a:avLst/>
          </a:prstGeom>
          <a:noFill/>
        </p:spPr>
        <p:txBody>
          <a:bodyPr wrap="none" lIns="0" rIns="0" tIns="0" bIns="0">
            <a:spAutoFit/>
          </a:bodyPr>
          <a:lstStyle/>
          <a:p>
            <a:pPr>
              <a:lnSpc>
                <a:spcPct val="117000"/>
              </a:lnSpc>
              <a:spcBef>
                <a:spcPts val="0"/>
              </a:spcBef>
              <a:spcAft>
                <a:spcPts val="0"/>
              </a:spcAft>
              <a:defRPr sz="2000" b="0">
                <a:solidFill>
                  <a:srgbClr val="262626"/>
                </a:solidFill>
                <a:latin typeface="Liberation Sans"/>
              </a:defRPr>
            </a:pPr>
            <a:r>
              <a:t>Coverage and incomplete</a:t>
            </a:r>
          </a:p>
          <a:p>
            <a:pPr>
              <a:lnSpc>
                <a:spcPct val="117000"/>
              </a:lnSpc>
              <a:spcBef>
                <a:spcPts val="0"/>
              </a:spcBef>
              <a:spcAft>
                <a:spcPts val="0"/>
              </a:spcAft>
              <a:defRPr sz="2000" b="0">
                <a:solidFill>
                  <a:srgbClr val="262626"/>
                </a:solidFill>
                <a:latin typeface="Liberation Sans"/>
              </a:defRPr>
            </a:pPr>
            <a:r>
              <a:t>searches stay visible.</a:t>
            </a:r>
          </a:p>
        </p:txBody>
      </p:sp>
      <p:sp>
        <p:nvSpPr>
          <p:cNvPr id="21" name="TextBox 20"/>
          <p:cNvSpPr txBox="1"/>
          <p:nvPr/>
        </p:nvSpPr>
        <p:spPr>
          <a:xfrm>
            <a:off x="2458720" y="6532880"/>
            <a:ext cx="9652000" cy="386892"/>
          </a:xfrm>
          <a:prstGeom prst="rect">
            <a:avLst/>
          </a:prstGeom>
          <a:noFill/>
        </p:spPr>
        <p:txBody>
          <a:bodyPr wrap="none" lIns="0" rIns="0" tIns="0" bIns="0">
            <a:spAutoFit/>
          </a:bodyPr>
          <a:lstStyle/>
          <a:p>
            <a:pPr>
              <a:lnSpc>
                <a:spcPct val="117000"/>
              </a:lnSpc>
              <a:spcBef>
                <a:spcPts val="0"/>
              </a:spcBef>
              <a:spcAft>
                <a:spcPts val="0"/>
              </a:spcAft>
              <a:defRPr sz="1920" b="1">
                <a:solidFill>
                  <a:srgbClr val="F2620F"/>
                </a:solidFill>
                <a:latin typeface="Liberation Sans"/>
              </a:defRPr>
            </a:pPr>
            <a:r>
              <a:t>LIVE DEMO / Overview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7F7"/>
        </a:solidFill>
        <a:effectLst/>
      </p:bgPr>
    </p:bg>
    <p:spTree>
      <p:nvGrpSpPr>
        <p:cNvPr id="1" name=""/>
        <p:cNvGrpSpPr/>
        <p:nvPr/>
      </p:nvGrpSpPr>
      <p:grpSpPr/>
      <p:sp>
        <p:nvSpPr>
          <p:cNvPr id="2" name="Rounded Rectangle 1"/>
          <p:cNvSpPr/>
          <p:nvPr/>
        </p:nvSpPr>
        <p:spPr>
          <a:xfrm>
            <a:off x="-508000" y="0"/>
            <a:ext cx="12131040" cy="762000"/>
          </a:xfrm>
          <a:prstGeom prst="roundRect">
            <a:avLst>
              <a:gd name="adj" fmla="val 50000"/>
            </a:avLst>
          </a:prstGeom>
          <a:solidFill>
            <a:srgbClr val="F8D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8000" y="0"/>
            <a:ext cx="11003280" cy="76200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8000" y="0"/>
            <a:ext cx="9875520" cy="762000"/>
          </a:xfrm>
          <a:prstGeom prst="roundRect">
            <a:avLst>
              <a:gd name="adj" fmla="val 50000"/>
            </a:avLst>
          </a:prstGeom>
          <a:solidFill>
            <a:srgbClr val="F6A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8000" y="0"/>
            <a:ext cx="8747760" cy="762000"/>
          </a:xfrm>
          <a:prstGeom prst="roundRect">
            <a:avLst>
              <a:gd name="adj" fmla="val 50000"/>
            </a:avLst>
          </a:prstGeom>
          <a:solidFill>
            <a:srgbClr val="F68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8000" y="0"/>
            <a:ext cx="7620000" cy="762000"/>
          </a:xfrm>
          <a:prstGeom prst="roundRect">
            <a:avLst>
              <a:gd name="adj" fmla="val 50000"/>
            </a:avLst>
          </a:prstGeom>
          <a:solidFill>
            <a:srgbClr val="F47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8000" y="0"/>
            <a:ext cx="6492240" cy="76200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rot="18900000">
            <a:off x="792480" y="1524000"/>
            <a:ext cx="843280" cy="29464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rot="2700000">
            <a:off x="792480" y="1524000"/>
            <a:ext cx="843280" cy="29464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58720" y="1320800"/>
            <a:ext cx="11297920" cy="826719"/>
          </a:xfrm>
          <a:prstGeom prst="rect">
            <a:avLst/>
          </a:prstGeom>
          <a:noFill/>
        </p:spPr>
        <p:txBody>
          <a:bodyPr wrap="none" lIns="0" rIns="0" tIns="0" bIns="0">
            <a:spAutoFit/>
          </a:bodyPr>
          <a:lstStyle/>
          <a:p>
            <a:pPr>
              <a:lnSpc>
                <a:spcPct val="117000"/>
              </a:lnSpc>
              <a:spcBef>
                <a:spcPts val="0"/>
              </a:spcBef>
              <a:spcAft>
                <a:spcPts val="0"/>
              </a:spcAft>
              <a:defRPr sz="4880" b="1">
                <a:solidFill>
                  <a:srgbClr val="262626"/>
                </a:solidFill>
                <a:latin typeface="Liberation Sans"/>
              </a:defRPr>
            </a:pPr>
            <a:r>
              <a:t>Every alert has evidence.</a:t>
            </a:r>
          </a:p>
        </p:txBody>
      </p:sp>
      <p:sp>
        <p:nvSpPr>
          <p:cNvPr id="11" name="Rectangle 10"/>
          <p:cNvSpPr/>
          <p:nvPr/>
        </p:nvSpPr>
        <p:spPr>
          <a:xfrm>
            <a:off x="0" y="7487919"/>
            <a:ext cx="13888720" cy="10160"/>
          </a:xfrm>
          <a:prstGeom prst="rect">
            <a:avLst/>
          </a:prstGeom>
          <a:solidFill>
            <a:srgbClr val="858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1840" y="7701280"/>
            <a:ext cx="711200" cy="320040"/>
          </a:xfrm>
          <a:prstGeom prst="rect">
            <a:avLst/>
          </a:prstGeom>
          <a:noFill/>
        </p:spPr>
        <p:txBody>
          <a:bodyPr wrap="none" lIns="0" tIns="0">
            <a:spAutoFit/>
          </a:bodyPr>
          <a:lstStyle/>
          <a:p>
            <a:pPr>
              <a:defRPr sz="1800" b="1">
                <a:solidFill>
                  <a:srgbClr val="F2620F"/>
                </a:solidFill>
                <a:latin typeface="Liberation Sans"/>
              </a:defRPr>
            </a:pPr>
            <a:r>
              <a:t>05.</a:t>
            </a:r>
          </a:p>
        </p:txBody>
      </p:sp>
      <p:sp>
        <p:nvSpPr>
          <p:cNvPr id="13" name="TextBox 12"/>
          <p:cNvSpPr txBox="1"/>
          <p:nvPr/>
        </p:nvSpPr>
        <p:spPr>
          <a:xfrm>
            <a:off x="2458720" y="7701280"/>
            <a:ext cx="6096000" cy="320040"/>
          </a:xfrm>
          <a:prstGeom prst="rect">
            <a:avLst/>
          </a:prstGeom>
          <a:noFill/>
        </p:spPr>
        <p:txBody>
          <a:bodyPr wrap="none" lIns="0" tIns="0">
            <a:spAutoFit/>
          </a:bodyPr>
          <a:lstStyle/>
          <a:p>
            <a:pPr>
              <a:defRPr sz="1400" b="0">
                <a:solidFill>
                  <a:srgbClr val="575757"/>
                </a:solidFill>
                <a:latin typeface="Liberation Sans"/>
              </a:defRPr>
            </a:pPr>
            <a:r>
              <a:t>FINTRACE / PROJECT DEMO</a:t>
            </a:r>
          </a:p>
        </p:txBody>
      </p:sp>
      <p:sp>
        <p:nvSpPr>
          <p:cNvPr id="14" name="TextBox 13"/>
          <p:cNvSpPr txBox="1"/>
          <p:nvPr/>
        </p:nvSpPr>
        <p:spPr>
          <a:xfrm>
            <a:off x="11887200" y="7701280"/>
            <a:ext cx="2032000" cy="320040"/>
          </a:xfrm>
          <a:prstGeom prst="rect">
            <a:avLst/>
          </a:prstGeom>
          <a:noFill/>
        </p:spPr>
        <p:txBody>
          <a:bodyPr wrap="none" lIns="0" tIns="0">
            <a:spAutoFit/>
          </a:bodyPr>
          <a:lstStyle/>
          <a:p>
            <a:pPr>
              <a:defRPr sz="1400" b="0">
                <a:solidFill>
                  <a:srgbClr val="262626"/>
                </a:solidFill>
                <a:latin typeface="Liberation Sans"/>
              </a:defRPr>
            </a:pPr>
            <a:r>
              <a:t>PERSON 2</a:t>
            </a:r>
          </a:p>
        </p:txBody>
      </p:sp>
      <p:sp>
        <p:nvSpPr>
          <p:cNvPr id="15" name="TextBox 14"/>
          <p:cNvSpPr txBox="1"/>
          <p:nvPr/>
        </p:nvSpPr>
        <p:spPr>
          <a:xfrm>
            <a:off x="2458720" y="4064000"/>
            <a:ext cx="3386666" cy="446328"/>
          </a:xfrm>
          <a:prstGeom prst="rect">
            <a:avLst/>
          </a:prstGeom>
          <a:noFill/>
        </p:spPr>
        <p:txBody>
          <a:bodyPr wrap="none" lIns="0" rIns="0" tIns="0" bIns="0">
            <a:spAutoFit/>
          </a:bodyPr>
          <a:lstStyle/>
          <a:p>
            <a:pPr>
              <a:lnSpc>
                <a:spcPct val="117000"/>
              </a:lnSpc>
              <a:spcBef>
                <a:spcPts val="0"/>
              </a:spcBef>
              <a:spcAft>
                <a:spcPts val="0"/>
              </a:spcAft>
              <a:defRPr sz="2320" b="1">
                <a:solidFill>
                  <a:srgbClr val="262626"/>
                </a:solidFill>
                <a:latin typeface="Liberation Sans"/>
              </a:defRPr>
            </a:pPr>
            <a:r>
              <a:t>What happened?</a:t>
            </a:r>
          </a:p>
        </p:txBody>
      </p:sp>
      <p:sp>
        <p:nvSpPr>
          <p:cNvPr id="16" name="TextBox 15"/>
          <p:cNvSpPr txBox="1"/>
          <p:nvPr/>
        </p:nvSpPr>
        <p:spPr>
          <a:xfrm>
            <a:off x="2458720" y="4714240"/>
            <a:ext cx="3386666" cy="993139"/>
          </a:xfrm>
          <a:prstGeom prst="rect">
            <a:avLst/>
          </a:prstGeom>
          <a:noFill/>
        </p:spPr>
        <p:txBody>
          <a:bodyPr wrap="none" lIns="0" rIns="0" tIns="0" bIns="0">
            <a:spAutoFit/>
          </a:bodyPr>
          <a:lstStyle/>
          <a:p>
            <a:pPr>
              <a:lnSpc>
                <a:spcPct val="117000"/>
              </a:lnSpc>
              <a:spcBef>
                <a:spcPts val="0"/>
              </a:spcBef>
              <a:spcAft>
                <a:spcPts val="0"/>
              </a:spcAft>
              <a:defRPr sz="2000" b="0">
                <a:solidFill>
                  <a:srgbClr val="262626"/>
                </a:solidFill>
                <a:latin typeface="Liberation Sans"/>
              </a:defRPr>
            </a:pPr>
            <a:r>
              <a:t>Plain explanation, time</a:t>
            </a:r>
          </a:p>
          <a:p>
            <a:pPr>
              <a:lnSpc>
                <a:spcPct val="117000"/>
              </a:lnSpc>
              <a:spcBef>
                <a:spcPts val="0"/>
              </a:spcBef>
              <a:spcAft>
                <a:spcPts val="0"/>
              </a:spcAft>
              <a:defRPr sz="2000" b="0">
                <a:solidFill>
                  <a:srgbClr val="262626"/>
                </a:solidFill>
                <a:latin typeface="Liberation Sans"/>
              </a:defRPr>
            </a:pPr>
            <a:r>
              <a:t>window and observed</a:t>
            </a:r>
          </a:p>
          <a:p>
            <a:pPr>
              <a:lnSpc>
                <a:spcPct val="117000"/>
              </a:lnSpc>
              <a:spcBef>
                <a:spcPts val="0"/>
              </a:spcBef>
              <a:spcAft>
                <a:spcPts val="0"/>
              </a:spcAft>
              <a:defRPr sz="2000" b="0">
                <a:solidFill>
                  <a:srgbClr val="262626"/>
                </a:solidFill>
                <a:latin typeface="Liberation Sans"/>
              </a:defRPr>
            </a:pPr>
            <a:r>
              <a:t>measurements.</a:t>
            </a:r>
          </a:p>
        </p:txBody>
      </p:sp>
      <p:sp>
        <p:nvSpPr>
          <p:cNvPr id="17" name="TextBox 16"/>
          <p:cNvSpPr txBox="1"/>
          <p:nvPr/>
        </p:nvSpPr>
        <p:spPr>
          <a:xfrm>
            <a:off x="6404186" y="4064000"/>
            <a:ext cx="3386666" cy="446328"/>
          </a:xfrm>
          <a:prstGeom prst="rect">
            <a:avLst/>
          </a:prstGeom>
          <a:noFill/>
        </p:spPr>
        <p:txBody>
          <a:bodyPr wrap="none" lIns="0" rIns="0" tIns="0" bIns="0">
            <a:spAutoFit/>
          </a:bodyPr>
          <a:lstStyle/>
          <a:p>
            <a:pPr>
              <a:lnSpc>
                <a:spcPct val="117000"/>
              </a:lnSpc>
              <a:spcBef>
                <a:spcPts val="0"/>
              </a:spcBef>
              <a:spcAft>
                <a:spcPts val="0"/>
              </a:spcAft>
              <a:defRPr sz="2320" b="1">
                <a:solidFill>
                  <a:srgbClr val="262626"/>
                </a:solidFill>
                <a:latin typeface="Liberation Sans"/>
              </a:defRPr>
            </a:pPr>
            <a:r>
              <a:t>Why did it trigger?</a:t>
            </a:r>
          </a:p>
        </p:txBody>
      </p:sp>
      <p:sp>
        <p:nvSpPr>
          <p:cNvPr id="18" name="TextBox 17"/>
          <p:cNvSpPr txBox="1"/>
          <p:nvPr/>
        </p:nvSpPr>
        <p:spPr>
          <a:xfrm>
            <a:off x="6404186" y="4714240"/>
            <a:ext cx="3386666" cy="695960"/>
          </a:xfrm>
          <a:prstGeom prst="rect">
            <a:avLst/>
          </a:prstGeom>
          <a:noFill/>
        </p:spPr>
        <p:txBody>
          <a:bodyPr wrap="none" lIns="0" rIns="0" tIns="0" bIns="0">
            <a:spAutoFit/>
          </a:bodyPr>
          <a:lstStyle/>
          <a:p>
            <a:pPr>
              <a:lnSpc>
                <a:spcPct val="117000"/>
              </a:lnSpc>
              <a:spcBef>
                <a:spcPts val="0"/>
              </a:spcBef>
              <a:spcAft>
                <a:spcPts val="0"/>
              </a:spcAft>
              <a:defRPr sz="2000" b="0">
                <a:solidFill>
                  <a:srgbClr val="262626"/>
                </a:solidFill>
                <a:latin typeface="Liberation Sans"/>
              </a:defRPr>
            </a:pPr>
            <a:r>
              <a:t>Visible policy thresholds and</a:t>
            </a:r>
          </a:p>
          <a:p>
            <a:pPr>
              <a:lnSpc>
                <a:spcPct val="117000"/>
              </a:lnSpc>
              <a:spcBef>
                <a:spcPts val="0"/>
              </a:spcBef>
              <a:spcAft>
                <a:spcPts val="0"/>
              </a:spcAft>
              <a:defRPr sz="2000" b="0">
                <a:solidFill>
                  <a:srgbClr val="262626"/>
                </a:solidFill>
                <a:latin typeface="Liberation Sans"/>
              </a:defRPr>
            </a:pPr>
            <a:r>
              <a:t>exact transfer references.</a:t>
            </a:r>
          </a:p>
        </p:txBody>
      </p:sp>
      <p:sp>
        <p:nvSpPr>
          <p:cNvPr id="19" name="TextBox 18"/>
          <p:cNvSpPr txBox="1"/>
          <p:nvPr/>
        </p:nvSpPr>
        <p:spPr>
          <a:xfrm>
            <a:off x="10349653" y="4064000"/>
            <a:ext cx="3386666" cy="446328"/>
          </a:xfrm>
          <a:prstGeom prst="rect">
            <a:avLst/>
          </a:prstGeom>
          <a:noFill/>
        </p:spPr>
        <p:txBody>
          <a:bodyPr wrap="none" lIns="0" rIns="0" tIns="0" bIns="0">
            <a:spAutoFit/>
          </a:bodyPr>
          <a:lstStyle/>
          <a:p>
            <a:pPr>
              <a:lnSpc>
                <a:spcPct val="117000"/>
              </a:lnSpc>
              <a:spcBef>
                <a:spcPts val="0"/>
              </a:spcBef>
              <a:spcAft>
                <a:spcPts val="0"/>
              </a:spcAft>
              <a:defRPr sz="2320" b="1">
                <a:solidFill>
                  <a:srgbClr val="262626"/>
                </a:solidFill>
                <a:latin typeface="Liberation Sans"/>
              </a:defRPr>
            </a:pPr>
            <a:r>
              <a:t>What can we check?</a:t>
            </a:r>
          </a:p>
        </p:txBody>
      </p:sp>
      <p:sp>
        <p:nvSpPr>
          <p:cNvPr id="20" name="TextBox 19"/>
          <p:cNvSpPr txBox="1"/>
          <p:nvPr/>
        </p:nvSpPr>
        <p:spPr>
          <a:xfrm>
            <a:off x="10349653" y="4714240"/>
            <a:ext cx="3386666" cy="993139"/>
          </a:xfrm>
          <a:prstGeom prst="rect">
            <a:avLst/>
          </a:prstGeom>
          <a:noFill/>
        </p:spPr>
        <p:txBody>
          <a:bodyPr wrap="none" lIns="0" rIns="0" tIns="0" bIns="0">
            <a:spAutoFit/>
          </a:bodyPr>
          <a:lstStyle/>
          <a:p>
            <a:pPr>
              <a:lnSpc>
                <a:spcPct val="117000"/>
              </a:lnSpc>
              <a:spcBef>
                <a:spcPts val="0"/>
              </a:spcBef>
              <a:spcAft>
                <a:spcPts val="0"/>
              </a:spcAft>
              <a:defRPr sz="2000" b="0">
                <a:solidFill>
                  <a:srgbClr val="262626"/>
                </a:solidFill>
                <a:latin typeface="Liberation Sans"/>
              </a:defRPr>
            </a:pPr>
            <a:r>
              <a:t>Inspect the evidence and</a:t>
            </a:r>
          </a:p>
          <a:p>
            <a:pPr>
              <a:lnSpc>
                <a:spcPct val="117000"/>
              </a:lnSpc>
              <a:spcBef>
                <a:spcPts val="0"/>
              </a:spcBef>
              <a:spcAft>
                <a:spcPts val="0"/>
              </a:spcAft>
              <a:defRPr sz="2000" b="0">
                <a:solidFill>
                  <a:srgbClr val="262626"/>
                </a:solidFill>
                <a:latin typeface="Liberation Sans"/>
              </a:defRPr>
            </a:pPr>
            <a:r>
              <a:t>download the selected</a:t>
            </a:r>
          </a:p>
          <a:p>
            <a:pPr>
              <a:lnSpc>
                <a:spcPct val="117000"/>
              </a:lnSpc>
              <a:spcBef>
                <a:spcPts val="0"/>
              </a:spcBef>
              <a:spcAft>
                <a:spcPts val="0"/>
              </a:spcAft>
              <a:defRPr sz="2000" b="0">
                <a:solidFill>
                  <a:srgbClr val="262626"/>
                </a:solidFill>
                <a:latin typeface="Liberation Sans"/>
              </a:defRPr>
            </a:pPr>
            <a:r>
              <a:t>finding.</a:t>
            </a:r>
          </a:p>
        </p:txBody>
      </p:sp>
      <p:sp>
        <p:nvSpPr>
          <p:cNvPr id="21" name="TextBox 20"/>
          <p:cNvSpPr txBox="1"/>
          <p:nvPr/>
        </p:nvSpPr>
        <p:spPr>
          <a:xfrm>
            <a:off x="2458720" y="6532880"/>
            <a:ext cx="10668000" cy="386892"/>
          </a:xfrm>
          <a:prstGeom prst="rect">
            <a:avLst/>
          </a:prstGeom>
          <a:noFill/>
        </p:spPr>
        <p:txBody>
          <a:bodyPr wrap="none" lIns="0" rIns="0" tIns="0" bIns="0">
            <a:spAutoFit/>
          </a:bodyPr>
          <a:lstStyle/>
          <a:p>
            <a:pPr>
              <a:lnSpc>
                <a:spcPct val="117000"/>
              </a:lnSpc>
              <a:spcBef>
                <a:spcPts val="0"/>
              </a:spcBef>
              <a:spcAft>
                <a:spcPts val="0"/>
              </a:spcAft>
              <a:defRPr sz="1920" b="1">
                <a:solidFill>
                  <a:srgbClr val="F2620F"/>
                </a:solidFill>
                <a:latin typeface="Liberation Sans"/>
              </a:defRPr>
            </a:pPr>
            <a:r>
              <a:t>LIVE DEMO / Alert review → Evidence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7F7"/>
        </a:solidFill>
        <a:effectLst/>
      </p:bgPr>
    </p:bg>
    <p:spTree>
      <p:nvGrpSpPr>
        <p:cNvPr id="1" name=""/>
        <p:cNvGrpSpPr/>
        <p:nvPr/>
      </p:nvGrpSpPr>
      <p:grpSpPr/>
      <p:sp>
        <p:nvSpPr>
          <p:cNvPr id="2" name="Rounded Rectangle 1"/>
          <p:cNvSpPr/>
          <p:nvPr/>
        </p:nvSpPr>
        <p:spPr>
          <a:xfrm>
            <a:off x="-508000" y="0"/>
            <a:ext cx="12131040" cy="762000"/>
          </a:xfrm>
          <a:prstGeom prst="roundRect">
            <a:avLst>
              <a:gd name="adj" fmla="val 50000"/>
            </a:avLst>
          </a:prstGeom>
          <a:solidFill>
            <a:srgbClr val="F8D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8000" y="0"/>
            <a:ext cx="11003280" cy="76200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8000" y="0"/>
            <a:ext cx="9875520" cy="762000"/>
          </a:xfrm>
          <a:prstGeom prst="roundRect">
            <a:avLst>
              <a:gd name="adj" fmla="val 50000"/>
            </a:avLst>
          </a:prstGeom>
          <a:solidFill>
            <a:srgbClr val="F6A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8000" y="0"/>
            <a:ext cx="8747760" cy="762000"/>
          </a:xfrm>
          <a:prstGeom prst="roundRect">
            <a:avLst>
              <a:gd name="adj" fmla="val 50000"/>
            </a:avLst>
          </a:prstGeom>
          <a:solidFill>
            <a:srgbClr val="F68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8000" y="0"/>
            <a:ext cx="7620000" cy="762000"/>
          </a:xfrm>
          <a:prstGeom prst="roundRect">
            <a:avLst>
              <a:gd name="adj" fmla="val 50000"/>
            </a:avLst>
          </a:prstGeom>
          <a:solidFill>
            <a:srgbClr val="F47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8000" y="0"/>
            <a:ext cx="6492240" cy="76200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rot="18900000">
            <a:off x="792480" y="1524000"/>
            <a:ext cx="843280" cy="29464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rot="2700000">
            <a:off x="792480" y="1524000"/>
            <a:ext cx="843280" cy="29464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58720" y="1320800"/>
            <a:ext cx="11297920" cy="826719"/>
          </a:xfrm>
          <a:prstGeom prst="rect">
            <a:avLst/>
          </a:prstGeom>
          <a:noFill/>
        </p:spPr>
        <p:txBody>
          <a:bodyPr wrap="none" lIns="0" rIns="0" tIns="0" bIns="0">
            <a:spAutoFit/>
          </a:bodyPr>
          <a:lstStyle/>
          <a:p>
            <a:pPr>
              <a:lnSpc>
                <a:spcPct val="117000"/>
              </a:lnSpc>
              <a:spcBef>
                <a:spcPts val="0"/>
              </a:spcBef>
              <a:spcAft>
                <a:spcPts val="0"/>
              </a:spcAft>
              <a:defRPr sz="4880" b="1">
                <a:solidFill>
                  <a:srgbClr val="262626"/>
                </a:solidFill>
                <a:latin typeface="Liberation Sans"/>
              </a:defRPr>
            </a:pPr>
            <a:r>
              <a:t>Priority is not probability.</a:t>
            </a:r>
          </a:p>
        </p:txBody>
      </p:sp>
      <p:sp>
        <p:nvSpPr>
          <p:cNvPr id="11" name="Rectangle 10"/>
          <p:cNvSpPr/>
          <p:nvPr/>
        </p:nvSpPr>
        <p:spPr>
          <a:xfrm>
            <a:off x="0" y="7487919"/>
            <a:ext cx="13888720" cy="10160"/>
          </a:xfrm>
          <a:prstGeom prst="rect">
            <a:avLst/>
          </a:prstGeom>
          <a:solidFill>
            <a:srgbClr val="858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1840" y="7701280"/>
            <a:ext cx="711200" cy="320040"/>
          </a:xfrm>
          <a:prstGeom prst="rect">
            <a:avLst/>
          </a:prstGeom>
          <a:noFill/>
        </p:spPr>
        <p:txBody>
          <a:bodyPr wrap="none" lIns="0" tIns="0">
            <a:spAutoFit/>
          </a:bodyPr>
          <a:lstStyle/>
          <a:p>
            <a:pPr>
              <a:defRPr sz="1800" b="1">
                <a:solidFill>
                  <a:srgbClr val="F2620F"/>
                </a:solidFill>
                <a:latin typeface="Liberation Sans"/>
              </a:defRPr>
            </a:pPr>
            <a:r>
              <a:t>06.</a:t>
            </a:r>
          </a:p>
        </p:txBody>
      </p:sp>
      <p:sp>
        <p:nvSpPr>
          <p:cNvPr id="13" name="TextBox 12"/>
          <p:cNvSpPr txBox="1"/>
          <p:nvPr/>
        </p:nvSpPr>
        <p:spPr>
          <a:xfrm>
            <a:off x="2458720" y="7701280"/>
            <a:ext cx="6096000" cy="320040"/>
          </a:xfrm>
          <a:prstGeom prst="rect">
            <a:avLst/>
          </a:prstGeom>
          <a:noFill/>
        </p:spPr>
        <p:txBody>
          <a:bodyPr wrap="none" lIns="0" tIns="0">
            <a:spAutoFit/>
          </a:bodyPr>
          <a:lstStyle/>
          <a:p>
            <a:pPr>
              <a:defRPr sz="1400" b="0">
                <a:solidFill>
                  <a:srgbClr val="575757"/>
                </a:solidFill>
                <a:latin typeface="Liberation Sans"/>
              </a:defRPr>
            </a:pPr>
            <a:r>
              <a:t>FINTRACE / PROJECT DEMO</a:t>
            </a:r>
          </a:p>
        </p:txBody>
      </p:sp>
      <p:sp>
        <p:nvSpPr>
          <p:cNvPr id="14" name="TextBox 13"/>
          <p:cNvSpPr txBox="1"/>
          <p:nvPr/>
        </p:nvSpPr>
        <p:spPr>
          <a:xfrm>
            <a:off x="11887200" y="7701280"/>
            <a:ext cx="2032000" cy="320040"/>
          </a:xfrm>
          <a:prstGeom prst="rect">
            <a:avLst/>
          </a:prstGeom>
          <a:noFill/>
        </p:spPr>
        <p:txBody>
          <a:bodyPr wrap="none" lIns="0" tIns="0">
            <a:spAutoFit/>
          </a:bodyPr>
          <a:lstStyle/>
          <a:p>
            <a:pPr>
              <a:defRPr sz="1400" b="0">
                <a:solidFill>
                  <a:srgbClr val="262626"/>
                </a:solidFill>
                <a:latin typeface="Liberation Sans"/>
              </a:defRPr>
            </a:pPr>
            <a:r>
              <a:t>PERSON 2</a:t>
            </a:r>
          </a:p>
        </p:txBody>
      </p:sp>
      <p:sp>
        <p:nvSpPr>
          <p:cNvPr id="15" name="TextBox 14"/>
          <p:cNvSpPr txBox="1"/>
          <p:nvPr/>
        </p:nvSpPr>
        <p:spPr>
          <a:xfrm>
            <a:off x="2458720" y="3708400"/>
            <a:ext cx="4775200" cy="398780"/>
          </a:xfrm>
          <a:prstGeom prst="rect">
            <a:avLst/>
          </a:prstGeom>
          <a:noFill/>
        </p:spPr>
        <p:txBody>
          <a:bodyPr wrap="none" lIns="0" rIns="0" tIns="0" bIns="0">
            <a:spAutoFit/>
          </a:bodyPr>
          <a:lstStyle/>
          <a:p>
            <a:pPr>
              <a:lnSpc>
                <a:spcPct val="117000"/>
              </a:lnSpc>
              <a:spcBef>
                <a:spcPts val="0"/>
              </a:spcBef>
              <a:spcAft>
                <a:spcPts val="0"/>
              </a:spcAft>
              <a:defRPr sz="2000" b="1">
                <a:solidFill>
                  <a:srgbClr val="F2620F"/>
                </a:solidFill>
                <a:latin typeface="Liberation Sans"/>
              </a:defRPr>
            </a:pPr>
            <a:r>
              <a:t>REVIEW PRIORITY</a:t>
            </a:r>
          </a:p>
        </p:txBody>
      </p:sp>
      <p:sp>
        <p:nvSpPr>
          <p:cNvPr id="16" name="TextBox 15"/>
          <p:cNvSpPr txBox="1"/>
          <p:nvPr/>
        </p:nvSpPr>
        <p:spPr>
          <a:xfrm>
            <a:off x="2458720" y="4236720"/>
            <a:ext cx="5080000" cy="1575612"/>
          </a:xfrm>
          <a:prstGeom prst="rect">
            <a:avLst/>
          </a:prstGeom>
          <a:noFill/>
        </p:spPr>
        <p:txBody>
          <a:bodyPr wrap="none" lIns="0" rIns="0" tIns="0" bIns="0">
            <a:spAutoFit/>
          </a:bodyPr>
          <a:lstStyle/>
          <a:p>
            <a:pPr>
              <a:lnSpc>
                <a:spcPct val="117000"/>
              </a:lnSpc>
              <a:spcBef>
                <a:spcPts val="0"/>
              </a:spcBef>
              <a:spcAft>
                <a:spcPts val="0"/>
              </a:spcAft>
              <a:defRPr sz="4960" b="1">
                <a:solidFill>
                  <a:srgbClr val="262626"/>
                </a:solidFill>
                <a:latin typeface="Liberation Sans"/>
              </a:defRPr>
            </a:pPr>
            <a:r>
              <a:t>Where to look</a:t>
            </a:r>
          </a:p>
          <a:p>
            <a:pPr>
              <a:lnSpc>
                <a:spcPct val="117000"/>
              </a:lnSpc>
              <a:spcBef>
                <a:spcPts val="0"/>
              </a:spcBef>
              <a:spcAft>
                <a:spcPts val="0"/>
              </a:spcAft>
              <a:defRPr sz="4960" b="1">
                <a:solidFill>
                  <a:srgbClr val="262626"/>
                </a:solidFill>
                <a:latin typeface="Liberation Sans"/>
              </a:defRPr>
            </a:pPr>
            <a:r>
              <a:t>next</a:t>
            </a:r>
          </a:p>
        </p:txBody>
      </p:sp>
      <p:sp>
        <p:nvSpPr>
          <p:cNvPr id="17" name="TextBox 16"/>
          <p:cNvSpPr txBox="1"/>
          <p:nvPr/>
        </p:nvSpPr>
        <p:spPr>
          <a:xfrm>
            <a:off x="8595360" y="3708400"/>
            <a:ext cx="5181600" cy="398780"/>
          </a:xfrm>
          <a:prstGeom prst="rect">
            <a:avLst/>
          </a:prstGeom>
          <a:noFill/>
        </p:spPr>
        <p:txBody>
          <a:bodyPr wrap="none" lIns="0" rIns="0" tIns="0" bIns="0">
            <a:spAutoFit/>
          </a:bodyPr>
          <a:lstStyle/>
          <a:p>
            <a:pPr>
              <a:lnSpc>
                <a:spcPct val="117000"/>
              </a:lnSpc>
              <a:spcBef>
                <a:spcPts val="0"/>
              </a:spcBef>
              <a:spcAft>
                <a:spcPts val="0"/>
              </a:spcAft>
              <a:defRPr sz="2000" b="1">
                <a:solidFill>
                  <a:srgbClr val="262626"/>
                </a:solidFill>
                <a:latin typeface="Liberation Sans"/>
              </a:defRPr>
            </a:pPr>
            <a:r>
              <a:t>NOT A PROBABILITY</a:t>
            </a:r>
          </a:p>
        </p:txBody>
      </p:sp>
      <p:sp>
        <p:nvSpPr>
          <p:cNvPr id="18" name="TextBox 17"/>
          <p:cNvSpPr txBox="1"/>
          <p:nvPr/>
        </p:nvSpPr>
        <p:spPr>
          <a:xfrm>
            <a:off x="8595360" y="4236720"/>
            <a:ext cx="5181600" cy="1480515"/>
          </a:xfrm>
          <a:prstGeom prst="rect">
            <a:avLst/>
          </a:prstGeom>
          <a:noFill/>
        </p:spPr>
        <p:txBody>
          <a:bodyPr wrap="none" lIns="0" rIns="0" tIns="0" bIns="0">
            <a:spAutoFit/>
          </a:bodyPr>
          <a:lstStyle/>
          <a:p>
            <a:pPr>
              <a:lnSpc>
                <a:spcPct val="117000"/>
              </a:lnSpc>
              <a:spcBef>
                <a:spcPts val="0"/>
              </a:spcBef>
              <a:spcAft>
                <a:spcPts val="0"/>
              </a:spcAft>
              <a:defRPr sz="4640" b="1">
                <a:solidFill>
                  <a:srgbClr val="262626"/>
                </a:solidFill>
                <a:latin typeface="Liberation Sans"/>
              </a:defRPr>
            </a:pPr>
            <a:r>
              <a:t>Not a verdict</a:t>
            </a:r>
          </a:p>
          <a:p>
            <a:pPr>
              <a:lnSpc>
                <a:spcPct val="117000"/>
              </a:lnSpc>
              <a:spcBef>
                <a:spcPts val="0"/>
              </a:spcBef>
              <a:spcAft>
                <a:spcPts val="0"/>
              </a:spcAft>
              <a:defRPr sz="4640" b="1">
                <a:solidFill>
                  <a:srgbClr val="262626"/>
                </a:solidFill>
                <a:latin typeface="Liberation Sans"/>
              </a:defRPr>
            </a:pPr>
            <a:r>
              <a:t>of crime</a:t>
            </a:r>
          </a:p>
        </p:txBody>
      </p:sp>
      <p:sp>
        <p:nvSpPr>
          <p:cNvPr id="19" name="TextBox 18"/>
          <p:cNvSpPr txBox="1"/>
          <p:nvPr/>
        </p:nvSpPr>
        <p:spPr>
          <a:xfrm>
            <a:off x="2458720" y="6502400"/>
            <a:ext cx="11176000" cy="422554"/>
          </a:xfrm>
          <a:prstGeom prst="rect">
            <a:avLst/>
          </a:prstGeom>
          <a:noFill/>
        </p:spPr>
        <p:txBody>
          <a:bodyPr wrap="none" lIns="0" rIns="0" tIns="0" bIns="0">
            <a:spAutoFit/>
          </a:bodyPr>
          <a:lstStyle/>
          <a:p>
            <a:pPr>
              <a:lnSpc>
                <a:spcPct val="117000"/>
              </a:lnSpc>
              <a:spcBef>
                <a:spcPts val="0"/>
              </a:spcBef>
              <a:spcAft>
                <a:spcPts val="0"/>
              </a:spcAft>
              <a:defRPr sz="2160" b="0">
                <a:solidFill>
                  <a:srgbClr val="262626"/>
                </a:solidFill>
                <a:latin typeface="Liberation Sans"/>
              </a:defRPr>
            </a:pPr>
            <a:r>
              <a:t>Fixed points · Visible contributions · Related clues grouped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7F7"/>
        </a:solidFill>
        <a:effectLst/>
      </p:bgPr>
    </p:bg>
    <p:spTree>
      <p:nvGrpSpPr>
        <p:cNvPr id="1" name=""/>
        <p:cNvGrpSpPr/>
        <p:nvPr/>
      </p:nvGrpSpPr>
      <p:grpSpPr/>
      <p:sp>
        <p:nvSpPr>
          <p:cNvPr id="2" name="Rounded Rectangle 1"/>
          <p:cNvSpPr/>
          <p:nvPr/>
        </p:nvSpPr>
        <p:spPr>
          <a:xfrm>
            <a:off x="-508000" y="0"/>
            <a:ext cx="12131040" cy="762000"/>
          </a:xfrm>
          <a:prstGeom prst="roundRect">
            <a:avLst>
              <a:gd name="adj" fmla="val 50000"/>
            </a:avLst>
          </a:prstGeom>
          <a:solidFill>
            <a:srgbClr val="F8D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8000" y="0"/>
            <a:ext cx="11003280" cy="76200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8000" y="0"/>
            <a:ext cx="9875520" cy="762000"/>
          </a:xfrm>
          <a:prstGeom prst="roundRect">
            <a:avLst>
              <a:gd name="adj" fmla="val 50000"/>
            </a:avLst>
          </a:prstGeom>
          <a:solidFill>
            <a:srgbClr val="F6A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8000" y="0"/>
            <a:ext cx="8747760" cy="762000"/>
          </a:xfrm>
          <a:prstGeom prst="roundRect">
            <a:avLst>
              <a:gd name="adj" fmla="val 50000"/>
            </a:avLst>
          </a:prstGeom>
          <a:solidFill>
            <a:srgbClr val="F68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8000" y="0"/>
            <a:ext cx="7620000" cy="762000"/>
          </a:xfrm>
          <a:prstGeom prst="roundRect">
            <a:avLst>
              <a:gd name="adj" fmla="val 50000"/>
            </a:avLst>
          </a:prstGeom>
          <a:solidFill>
            <a:srgbClr val="F47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8000" y="0"/>
            <a:ext cx="6492240" cy="76200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rot="18900000">
            <a:off x="792480" y="1524000"/>
            <a:ext cx="843280" cy="29464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rot="2700000">
            <a:off x="792480" y="1524000"/>
            <a:ext cx="843280" cy="29464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58720" y="1320800"/>
            <a:ext cx="11297920" cy="826719"/>
          </a:xfrm>
          <a:prstGeom prst="rect">
            <a:avLst/>
          </a:prstGeom>
          <a:noFill/>
        </p:spPr>
        <p:txBody>
          <a:bodyPr wrap="none" lIns="0" rIns="0" tIns="0" bIns="0">
            <a:spAutoFit/>
          </a:bodyPr>
          <a:lstStyle/>
          <a:p>
            <a:pPr>
              <a:lnSpc>
                <a:spcPct val="117000"/>
              </a:lnSpc>
              <a:spcBef>
                <a:spcPts val="0"/>
              </a:spcBef>
              <a:spcAft>
                <a:spcPts val="0"/>
              </a:spcAft>
              <a:defRPr sz="4880" b="1">
                <a:solidFill>
                  <a:srgbClr val="262626"/>
                </a:solidFill>
                <a:latin typeface="Liberation Sans"/>
              </a:defRPr>
            </a:pPr>
            <a:r>
              <a:t>An account, in context</a:t>
            </a:r>
          </a:p>
        </p:txBody>
      </p:sp>
      <p:sp>
        <p:nvSpPr>
          <p:cNvPr id="11" name="Rectangle 10"/>
          <p:cNvSpPr/>
          <p:nvPr/>
        </p:nvSpPr>
        <p:spPr>
          <a:xfrm>
            <a:off x="0" y="7487919"/>
            <a:ext cx="13888720" cy="10160"/>
          </a:xfrm>
          <a:prstGeom prst="rect">
            <a:avLst/>
          </a:prstGeom>
          <a:solidFill>
            <a:srgbClr val="858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1840" y="7701280"/>
            <a:ext cx="711200" cy="320040"/>
          </a:xfrm>
          <a:prstGeom prst="rect">
            <a:avLst/>
          </a:prstGeom>
          <a:noFill/>
        </p:spPr>
        <p:txBody>
          <a:bodyPr wrap="none" lIns="0" tIns="0">
            <a:spAutoFit/>
          </a:bodyPr>
          <a:lstStyle/>
          <a:p>
            <a:pPr>
              <a:defRPr sz="1800" b="1">
                <a:solidFill>
                  <a:srgbClr val="F2620F"/>
                </a:solidFill>
                <a:latin typeface="Liberation Sans"/>
              </a:defRPr>
            </a:pPr>
            <a:r>
              <a:t>07.</a:t>
            </a:r>
          </a:p>
        </p:txBody>
      </p:sp>
      <p:sp>
        <p:nvSpPr>
          <p:cNvPr id="13" name="TextBox 12"/>
          <p:cNvSpPr txBox="1"/>
          <p:nvPr/>
        </p:nvSpPr>
        <p:spPr>
          <a:xfrm>
            <a:off x="2458720" y="7701280"/>
            <a:ext cx="6096000" cy="320040"/>
          </a:xfrm>
          <a:prstGeom prst="rect">
            <a:avLst/>
          </a:prstGeom>
          <a:noFill/>
        </p:spPr>
        <p:txBody>
          <a:bodyPr wrap="none" lIns="0" tIns="0">
            <a:spAutoFit/>
          </a:bodyPr>
          <a:lstStyle/>
          <a:p>
            <a:pPr>
              <a:defRPr sz="1400" b="0">
                <a:solidFill>
                  <a:srgbClr val="575757"/>
                </a:solidFill>
                <a:latin typeface="Liberation Sans"/>
              </a:defRPr>
            </a:pPr>
            <a:r>
              <a:t>FINTRACE / PROJECT DEMO</a:t>
            </a:r>
          </a:p>
        </p:txBody>
      </p:sp>
      <p:sp>
        <p:nvSpPr>
          <p:cNvPr id="14" name="TextBox 13"/>
          <p:cNvSpPr txBox="1"/>
          <p:nvPr/>
        </p:nvSpPr>
        <p:spPr>
          <a:xfrm>
            <a:off x="11887200" y="7701280"/>
            <a:ext cx="2032000" cy="320040"/>
          </a:xfrm>
          <a:prstGeom prst="rect">
            <a:avLst/>
          </a:prstGeom>
          <a:noFill/>
        </p:spPr>
        <p:txBody>
          <a:bodyPr wrap="none" lIns="0" tIns="0">
            <a:spAutoFit/>
          </a:bodyPr>
          <a:lstStyle/>
          <a:p>
            <a:pPr>
              <a:defRPr sz="1400" b="0">
                <a:solidFill>
                  <a:srgbClr val="262626"/>
                </a:solidFill>
                <a:latin typeface="Liberation Sans"/>
              </a:defRPr>
            </a:pPr>
            <a:r>
              <a:t>PERSON 3</a:t>
            </a:r>
          </a:p>
        </p:txBody>
      </p:sp>
      <p:sp>
        <p:nvSpPr>
          <p:cNvPr id="15" name="TextBox 14"/>
          <p:cNvSpPr txBox="1"/>
          <p:nvPr/>
        </p:nvSpPr>
        <p:spPr>
          <a:xfrm>
            <a:off x="2458720" y="4064000"/>
            <a:ext cx="3386666" cy="446328"/>
          </a:xfrm>
          <a:prstGeom prst="rect">
            <a:avLst/>
          </a:prstGeom>
          <a:noFill/>
        </p:spPr>
        <p:txBody>
          <a:bodyPr wrap="none" lIns="0" rIns="0" tIns="0" bIns="0">
            <a:spAutoFit/>
          </a:bodyPr>
          <a:lstStyle/>
          <a:p>
            <a:pPr>
              <a:lnSpc>
                <a:spcPct val="117000"/>
              </a:lnSpc>
              <a:spcBef>
                <a:spcPts val="0"/>
              </a:spcBef>
              <a:spcAft>
                <a:spcPts val="0"/>
              </a:spcAft>
              <a:defRPr sz="2320" b="1">
                <a:solidFill>
                  <a:srgbClr val="262626"/>
                </a:solidFill>
                <a:latin typeface="Liberation Sans"/>
              </a:defRPr>
            </a:pPr>
            <a:r>
              <a:t>One evidence view</a:t>
            </a:r>
          </a:p>
        </p:txBody>
      </p:sp>
      <p:sp>
        <p:nvSpPr>
          <p:cNvPr id="16" name="TextBox 15"/>
          <p:cNvSpPr txBox="1"/>
          <p:nvPr/>
        </p:nvSpPr>
        <p:spPr>
          <a:xfrm>
            <a:off x="2458720" y="4714240"/>
            <a:ext cx="3386666" cy="993139"/>
          </a:xfrm>
          <a:prstGeom prst="rect">
            <a:avLst/>
          </a:prstGeom>
          <a:noFill/>
        </p:spPr>
        <p:txBody>
          <a:bodyPr wrap="none" lIns="0" rIns="0" tIns="0" bIns="0">
            <a:spAutoFit/>
          </a:bodyPr>
          <a:lstStyle/>
          <a:p>
            <a:pPr>
              <a:lnSpc>
                <a:spcPct val="117000"/>
              </a:lnSpc>
              <a:spcBef>
                <a:spcPts val="0"/>
              </a:spcBef>
              <a:spcAft>
                <a:spcPts val="0"/>
              </a:spcAft>
              <a:defRPr sz="2000" b="0">
                <a:solidFill>
                  <a:srgbClr val="262626"/>
                </a:solidFill>
                <a:latin typeface="Liberation Sans"/>
              </a:defRPr>
            </a:pPr>
            <a:r>
              <a:t>Priority, findings and linked</a:t>
            </a:r>
          </a:p>
          <a:p>
            <a:pPr>
              <a:lnSpc>
                <a:spcPct val="117000"/>
              </a:lnSpc>
              <a:spcBef>
                <a:spcPts val="0"/>
              </a:spcBef>
              <a:spcAft>
                <a:spcPts val="0"/>
              </a:spcAft>
              <a:defRPr sz="2000" b="0">
                <a:solidFill>
                  <a:srgbClr val="262626"/>
                </a:solidFill>
                <a:latin typeface="Liberation Sans"/>
              </a:defRPr>
            </a:pPr>
            <a:r>
              <a:t>alerts for the selected</a:t>
            </a:r>
          </a:p>
          <a:p>
            <a:pPr>
              <a:lnSpc>
                <a:spcPct val="117000"/>
              </a:lnSpc>
              <a:spcBef>
                <a:spcPts val="0"/>
              </a:spcBef>
              <a:spcAft>
                <a:spcPts val="0"/>
              </a:spcAft>
              <a:defRPr sz="2000" b="0">
                <a:solidFill>
                  <a:srgbClr val="262626"/>
                </a:solidFill>
                <a:latin typeface="Liberation Sans"/>
              </a:defRPr>
            </a:pPr>
            <a:r>
              <a:t>account.</a:t>
            </a:r>
          </a:p>
        </p:txBody>
      </p:sp>
      <p:sp>
        <p:nvSpPr>
          <p:cNvPr id="17" name="TextBox 16"/>
          <p:cNvSpPr txBox="1"/>
          <p:nvPr/>
        </p:nvSpPr>
        <p:spPr>
          <a:xfrm>
            <a:off x="6404186" y="4064000"/>
            <a:ext cx="3386666" cy="446328"/>
          </a:xfrm>
          <a:prstGeom prst="rect">
            <a:avLst/>
          </a:prstGeom>
          <a:noFill/>
        </p:spPr>
        <p:txBody>
          <a:bodyPr wrap="none" lIns="0" rIns="0" tIns="0" bIns="0">
            <a:spAutoFit/>
          </a:bodyPr>
          <a:lstStyle/>
          <a:p>
            <a:pPr>
              <a:lnSpc>
                <a:spcPct val="117000"/>
              </a:lnSpc>
              <a:spcBef>
                <a:spcPts val="0"/>
              </a:spcBef>
              <a:spcAft>
                <a:spcPts val="0"/>
              </a:spcAft>
              <a:defRPr sz="2320" b="1">
                <a:solidFill>
                  <a:srgbClr val="262626"/>
                </a:solidFill>
                <a:latin typeface="Liberation Sans"/>
              </a:defRPr>
            </a:pPr>
            <a:r>
              <a:t>Precise transfers</a:t>
            </a:r>
          </a:p>
        </p:txBody>
      </p:sp>
      <p:sp>
        <p:nvSpPr>
          <p:cNvPr id="18" name="TextBox 17"/>
          <p:cNvSpPr txBox="1"/>
          <p:nvPr/>
        </p:nvSpPr>
        <p:spPr>
          <a:xfrm>
            <a:off x="6404186" y="4714240"/>
            <a:ext cx="3386666" cy="695960"/>
          </a:xfrm>
          <a:prstGeom prst="rect">
            <a:avLst/>
          </a:prstGeom>
          <a:noFill/>
        </p:spPr>
        <p:txBody>
          <a:bodyPr wrap="none" lIns="0" rIns="0" tIns="0" bIns="0">
            <a:spAutoFit/>
          </a:bodyPr>
          <a:lstStyle/>
          <a:p>
            <a:pPr>
              <a:lnSpc>
                <a:spcPct val="117000"/>
              </a:lnSpc>
              <a:spcBef>
                <a:spcPts val="0"/>
              </a:spcBef>
              <a:spcAft>
                <a:spcPts val="0"/>
              </a:spcAft>
              <a:defRPr sz="2000" b="0">
                <a:solidFill>
                  <a:srgbClr val="262626"/>
                </a:solidFill>
                <a:latin typeface="Liberation Sans"/>
              </a:defRPr>
            </a:pPr>
            <a:r>
              <a:t>Sender, receiver, time and</a:t>
            </a:r>
          </a:p>
          <a:p>
            <a:pPr>
              <a:lnSpc>
                <a:spcPct val="117000"/>
              </a:lnSpc>
              <a:spcBef>
                <a:spcPts val="0"/>
              </a:spcBef>
              <a:spcAft>
                <a:spcPts val="0"/>
              </a:spcAft>
              <a:defRPr sz="2000" b="0">
                <a:solidFill>
                  <a:srgbClr val="262626"/>
                </a:solidFill>
                <a:latin typeface="Liberation Sans"/>
              </a:defRPr>
            </a:pPr>
            <a:r>
              <a:t>both payment amounts.</a:t>
            </a:r>
          </a:p>
        </p:txBody>
      </p:sp>
      <p:sp>
        <p:nvSpPr>
          <p:cNvPr id="19" name="TextBox 18"/>
          <p:cNvSpPr txBox="1"/>
          <p:nvPr/>
        </p:nvSpPr>
        <p:spPr>
          <a:xfrm>
            <a:off x="10349653" y="4064000"/>
            <a:ext cx="3386666" cy="446328"/>
          </a:xfrm>
          <a:prstGeom prst="rect">
            <a:avLst/>
          </a:prstGeom>
          <a:noFill/>
        </p:spPr>
        <p:txBody>
          <a:bodyPr wrap="none" lIns="0" rIns="0" tIns="0" bIns="0">
            <a:spAutoFit/>
          </a:bodyPr>
          <a:lstStyle/>
          <a:p>
            <a:pPr>
              <a:lnSpc>
                <a:spcPct val="117000"/>
              </a:lnSpc>
              <a:spcBef>
                <a:spcPts val="0"/>
              </a:spcBef>
              <a:spcAft>
                <a:spcPts val="0"/>
              </a:spcAft>
              <a:defRPr sz="2320" b="1">
                <a:solidFill>
                  <a:srgbClr val="262626"/>
                </a:solidFill>
                <a:latin typeface="Liberation Sans"/>
              </a:defRPr>
            </a:pPr>
            <a:r>
              <a:t>Honest boundaries</a:t>
            </a:r>
          </a:p>
        </p:txBody>
      </p:sp>
      <p:sp>
        <p:nvSpPr>
          <p:cNvPr id="20" name="TextBox 19"/>
          <p:cNvSpPr txBox="1"/>
          <p:nvPr/>
        </p:nvSpPr>
        <p:spPr>
          <a:xfrm>
            <a:off x="10349653" y="4714240"/>
            <a:ext cx="3386666" cy="993139"/>
          </a:xfrm>
          <a:prstGeom prst="rect">
            <a:avLst/>
          </a:prstGeom>
          <a:noFill/>
        </p:spPr>
        <p:txBody>
          <a:bodyPr wrap="none" lIns="0" rIns="0" tIns="0" bIns="0">
            <a:spAutoFit/>
          </a:bodyPr>
          <a:lstStyle/>
          <a:p>
            <a:pPr>
              <a:lnSpc>
                <a:spcPct val="117000"/>
              </a:lnSpc>
              <a:spcBef>
                <a:spcPts val="0"/>
              </a:spcBef>
              <a:spcAft>
                <a:spcPts val="0"/>
              </a:spcAft>
              <a:defRPr sz="2000" b="0">
                <a:solidFill>
                  <a:srgbClr val="262626"/>
                </a:solidFill>
                <a:latin typeface="Liberation Sans"/>
              </a:defRPr>
            </a:pPr>
            <a:r>
              <a:t>Currencies stay separate.</a:t>
            </a:r>
          </a:p>
          <a:p>
            <a:pPr>
              <a:lnSpc>
                <a:spcPct val="117000"/>
              </a:lnSpc>
              <a:spcBef>
                <a:spcPts val="0"/>
              </a:spcBef>
              <a:spcAft>
                <a:spcPts val="0"/>
              </a:spcAft>
              <a:defRPr sz="2000" b="0">
                <a:solidFill>
                  <a:srgbClr val="262626"/>
                </a:solidFill>
                <a:latin typeface="Liberation Sans"/>
              </a:defRPr>
            </a:pPr>
            <a:r>
              <a:t>Missing customer context</a:t>
            </a:r>
          </a:p>
          <a:p>
            <a:pPr>
              <a:lnSpc>
                <a:spcPct val="117000"/>
              </a:lnSpc>
              <a:spcBef>
                <a:spcPts val="0"/>
              </a:spcBef>
              <a:spcAft>
                <a:spcPts val="0"/>
              </a:spcAft>
              <a:defRPr sz="2000" b="0">
                <a:solidFill>
                  <a:srgbClr val="262626"/>
                </a:solidFill>
                <a:latin typeface="Liberation Sans"/>
              </a:defRPr>
            </a:pPr>
            <a:r>
              <a:t>stays missing.</a:t>
            </a:r>
          </a:p>
        </p:txBody>
      </p:sp>
      <p:sp>
        <p:nvSpPr>
          <p:cNvPr id="21" name="TextBox 20"/>
          <p:cNvSpPr txBox="1"/>
          <p:nvPr/>
        </p:nvSpPr>
        <p:spPr>
          <a:xfrm>
            <a:off x="2458720" y="6532880"/>
            <a:ext cx="11277600" cy="410667"/>
          </a:xfrm>
          <a:prstGeom prst="rect">
            <a:avLst/>
          </a:prstGeom>
          <a:noFill/>
        </p:spPr>
        <p:txBody>
          <a:bodyPr wrap="none" lIns="0" rIns="0" tIns="0" bIns="0">
            <a:spAutoFit/>
          </a:bodyPr>
          <a:lstStyle/>
          <a:p>
            <a:pPr>
              <a:lnSpc>
                <a:spcPct val="117000"/>
              </a:lnSpc>
              <a:spcBef>
                <a:spcPts val="0"/>
              </a:spcBef>
              <a:spcAft>
                <a:spcPts val="0"/>
              </a:spcAft>
              <a:defRPr sz="2080" b="1">
                <a:solidFill>
                  <a:srgbClr val="262626"/>
                </a:solidFill>
                <a:latin typeface="Liberation Sans"/>
              </a:defRPr>
            </a:pPr>
            <a:r>
              <a:t>Observed transfers - not a balance or a complete account history.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7F7"/>
        </a:solidFill>
        <a:effectLst/>
      </p:bgPr>
    </p:bg>
    <p:spTree>
      <p:nvGrpSpPr>
        <p:cNvPr id="1" name=""/>
        <p:cNvGrpSpPr/>
        <p:nvPr/>
      </p:nvGrpSpPr>
      <p:grpSpPr/>
      <p:sp>
        <p:nvSpPr>
          <p:cNvPr id="2" name="Rounded Rectangle 1"/>
          <p:cNvSpPr/>
          <p:nvPr/>
        </p:nvSpPr>
        <p:spPr>
          <a:xfrm>
            <a:off x="-508000" y="0"/>
            <a:ext cx="12131040" cy="762000"/>
          </a:xfrm>
          <a:prstGeom prst="roundRect">
            <a:avLst>
              <a:gd name="adj" fmla="val 50000"/>
            </a:avLst>
          </a:prstGeom>
          <a:solidFill>
            <a:srgbClr val="F8D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8000" y="0"/>
            <a:ext cx="11003280" cy="76200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8000" y="0"/>
            <a:ext cx="9875520" cy="762000"/>
          </a:xfrm>
          <a:prstGeom prst="roundRect">
            <a:avLst>
              <a:gd name="adj" fmla="val 50000"/>
            </a:avLst>
          </a:prstGeom>
          <a:solidFill>
            <a:srgbClr val="F6A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8000" y="0"/>
            <a:ext cx="8747760" cy="762000"/>
          </a:xfrm>
          <a:prstGeom prst="roundRect">
            <a:avLst>
              <a:gd name="adj" fmla="val 50000"/>
            </a:avLst>
          </a:prstGeom>
          <a:solidFill>
            <a:srgbClr val="F68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8000" y="0"/>
            <a:ext cx="7620000" cy="762000"/>
          </a:xfrm>
          <a:prstGeom prst="roundRect">
            <a:avLst>
              <a:gd name="adj" fmla="val 50000"/>
            </a:avLst>
          </a:prstGeom>
          <a:solidFill>
            <a:srgbClr val="F47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8000" y="0"/>
            <a:ext cx="6492240" cy="76200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rot="18900000">
            <a:off x="792480" y="1524000"/>
            <a:ext cx="843280" cy="29464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rot="2700000">
            <a:off x="792480" y="1524000"/>
            <a:ext cx="843280" cy="29464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58720" y="1320800"/>
            <a:ext cx="11297920" cy="826719"/>
          </a:xfrm>
          <a:prstGeom prst="rect">
            <a:avLst/>
          </a:prstGeom>
          <a:noFill/>
        </p:spPr>
        <p:txBody>
          <a:bodyPr wrap="none" lIns="0" rIns="0" tIns="0" bIns="0">
            <a:spAutoFit/>
          </a:bodyPr>
          <a:lstStyle/>
          <a:p>
            <a:pPr>
              <a:lnSpc>
                <a:spcPct val="117000"/>
              </a:lnSpc>
              <a:spcBef>
                <a:spcPts val="0"/>
              </a:spcBef>
              <a:spcAft>
                <a:spcPts val="0"/>
              </a:spcAft>
              <a:defRPr sz="4880" b="1">
                <a:solidFill>
                  <a:srgbClr val="262626"/>
                </a:solidFill>
                <a:latin typeface="Liberation Sans"/>
              </a:defRPr>
            </a:pPr>
            <a:r>
              <a:t>Connections need a time order.</a:t>
            </a:r>
          </a:p>
        </p:txBody>
      </p:sp>
      <p:sp>
        <p:nvSpPr>
          <p:cNvPr id="11" name="Rectangle 10"/>
          <p:cNvSpPr/>
          <p:nvPr/>
        </p:nvSpPr>
        <p:spPr>
          <a:xfrm>
            <a:off x="0" y="7487919"/>
            <a:ext cx="13888720" cy="10160"/>
          </a:xfrm>
          <a:prstGeom prst="rect">
            <a:avLst/>
          </a:prstGeom>
          <a:solidFill>
            <a:srgbClr val="858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1840" y="7701280"/>
            <a:ext cx="711200" cy="320040"/>
          </a:xfrm>
          <a:prstGeom prst="rect">
            <a:avLst/>
          </a:prstGeom>
          <a:noFill/>
        </p:spPr>
        <p:txBody>
          <a:bodyPr wrap="none" lIns="0" tIns="0">
            <a:spAutoFit/>
          </a:bodyPr>
          <a:lstStyle/>
          <a:p>
            <a:pPr>
              <a:defRPr sz="1800" b="1">
                <a:solidFill>
                  <a:srgbClr val="F2620F"/>
                </a:solidFill>
                <a:latin typeface="Liberation Sans"/>
              </a:defRPr>
            </a:pPr>
            <a:r>
              <a:t>08.</a:t>
            </a:r>
          </a:p>
        </p:txBody>
      </p:sp>
      <p:sp>
        <p:nvSpPr>
          <p:cNvPr id="13" name="TextBox 12"/>
          <p:cNvSpPr txBox="1"/>
          <p:nvPr/>
        </p:nvSpPr>
        <p:spPr>
          <a:xfrm>
            <a:off x="2458720" y="7701280"/>
            <a:ext cx="6096000" cy="320040"/>
          </a:xfrm>
          <a:prstGeom prst="rect">
            <a:avLst/>
          </a:prstGeom>
          <a:noFill/>
        </p:spPr>
        <p:txBody>
          <a:bodyPr wrap="none" lIns="0" tIns="0">
            <a:spAutoFit/>
          </a:bodyPr>
          <a:lstStyle/>
          <a:p>
            <a:pPr>
              <a:defRPr sz="1400" b="0">
                <a:solidFill>
                  <a:srgbClr val="575757"/>
                </a:solidFill>
                <a:latin typeface="Liberation Sans"/>
              </a:defRPr>
            </a:pPr>
            <a:r>
              <a:t>FINTRACE / PROJECT DEMO</a:t>
            </a:r>
          </a:p>
        </p:txBody>
      </p:sp>
      <p:sp>
        <p:nvSpPr>
          <p:cNvPr id="14" name="TextBox 13"/>
          <p:cNvSpPr txBox="1"/>
          <p:nvPr/>
        </p:nvSpPr>
        <p:spPr>
          <a:xfrm>
            <a:off x="11887200" y="7701280"/>
            <a:ext cx="2032000" cy="320040"/>
          </a:xfrm>
          <a:prstGeom prst="rect">
            <a:avLst/>
          </a:prstGeom>
          <a:noFill/>
        </p:spPr>
        <p:txBody>
          <a:bodyPr wrap="none" lIns="0" tIns="0">
            <a:spAutoFit/>
          </a:bodyPr>
          <a:lstStyle/>
          <a:p>
            <a:pPr>
              <a:defRPr sz="1400" b="0">
                <a:solidFill>
                  <a:srgbClr val="262626"/>
                </a:solidFill>
                <a:latin typeface="Liberation Sans"/>
              </a:defRPr>
            </a:pPr>
            <a:r>
              <a:t>PERSON 3</a:t>
            </a:r>
          </a:p>
        </p:txBody>
      </p:sp>
      <p:sp>
        <p:nvSpPr>
          <p:cNvPr id="15" name="Rounded Rectangle 14"/>
          <p:cNvSpPr/>
          <p:nvPr/>
        </p:nvSpPr>
        <p:spPr>
          <a:xfrm>
            <a:off x="2458720" y="3759199"/>
            <a:ext cx="2722880" cy="1066800"/>
          </a:xfrm>
          <a:prstGeom prst="roundRect">
            <a:avLst>
              <a:gd name="adj" fmla="val 50000"/>
            </a:avLst>
          </a:prstGeom>
          <a:solidFill>
            <a:srgbClr val="F8D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12720" y="4003040"/>
            <a:ext cx="2336800" cy="481990"/>
          </a:xfrm>
          <a:prstGeom prst="rect">
            <a:avLst/>
          </a:prstGeom>
          <a:noFill/>
        </p:spPr>
        <p:txBody>
          <a:bodyPr wrap="none" lIns="0" rIns="0" tIns="0" bIns="0">
            <a:spAutoFit/>
          </a:bodyPr>
          <a:lstStyle/>
          <a:p>
            <a:pPr>
              <a:lnSpc>
                <a:spcPct val="117000"/>
              </a:lnSpc>
              <a:spcBef>
                <a:spcPts val="0"/>
              </a:spcBef>
              <a:spcAft>
                <a:spcPts val="0"/>
              </a:spcAft>
              <a:defRPr sz="2560" b="1">
                <a:solidFill>
                  <a:srgbClr val="262626"/>
                </a:solidFill>
                <a:latin typeface="Liberation Sans"/>
              </a:defRPr>
            </a:pPr>
            <a:r>
              <a:t>Account A</a:t>
            </a:r>
          </a:p>
        </p:txBody>
      </p:sp>
      <p:sp>
        <p:nvSpPr>
          <p:cNvPr id="17" name="TextBox 16"/>
          <p:cNvSpPr txBox="1"/>
          <p:nvPr/>
        </p:nvSpPr>
        <p:spPr>
          <a:xfrm>
            <a:off x="2712720" y="5130800"/>
            <a:ext cx="2336800" cy="446328"/>
          </a:xfrm>
          <a:prstGeom prst="rect">
            <a:avLst/>
          </a:prstGeom>
          <a:noFill/>
        </p:spPr>
        <p:txBody>
          <a:bodyPr wrap="none" lIns="0" rIns="0" tIns="0" bIns="0">
            <a:spAutoFit/>
          </a:bodyPr>
          <a:lstStyle/>
          <a:p>
            <a:pPr>
              <a:lnSpc>
                <a:spcPct val="117000"/>
              </a:lnSpc>
              <a:spcBef>
                <a:spcPts val="0"/>
              </a:spcBef>
              <a:spcAft>
                <a:spcPts val="0"/>
              </a:spcAft>
              <a:defRPr sz="2320" b="0">
                <a:solidFill>
                  <a:srgbClr val="F2620F"/>
                </a:solidFill>
                <a:latin typeface="Liberation Sans"/>
              </a:defRPr>
            </a:pPr>
            <a:r>
              <a:t>10:00</a:t>
            </a:r>
          </a:p>
        </p:txBody>
      </p:sp>
      <p:sp>
        <p:nvSpPr>
          <p:cNvPr id="18" name="TextBox 17"/>
          <p:cNvSpPr txBox="1"/>
          <p:nvPr/>
        </p:nvSpPr>
        <p:spPr>
          <a:xfrm>
            <a:off x="5496560" y="3982719"/>
            <a:ext cx="711200" cy="624636"/>
          </a:xfrm>
          <a:prstGeom prst="rect">
            <a:avLst/>
          </a:prstGeom>
          <a:noFill/>
        </p:spPr>
        <p:txBody>
          <a:bodyPr wrap="none" lIns="0" rIns="0" tIns="0" bIns="0">
            <a:spAutoFit/>
          </a:bodyPr>
          <a:lstStyle/>
          <a:p>
            <a:pPr>
              <a:lnSpc>
                <a:spcPct val="117000"/>
              </a:lnSpc>
              <a:spcBef>
                <a:spcPts val="0"/>
              </a:spcBef>
              <a:spcAft>
                <a:spcPts val="0"/>
              </a:spcAft>
              <a:defRPr sz="3520" b="1">
                <a:solidFill>
                  <a:srgbClr val="F2620F"/>
                </a:solidFill>
                <a:latin typeface="Liberation Sans"/>
              </a:defRPr>
            </a:pPr>
            <a:r>
              <a:t>→</a:t>
            </a:r>
          </a:p>
        </p:txBody>
      </p:sp>
      <p:sp>
        <p:nvSpPr>
          <p:cNvPr id="19" name="Rounded Rectangle 18"/>
          <p:cNvSpPr/>
          <p:nvPr/>
        </p:nvSpPr>
        <p:spPr>
          <a:xfrm>
            <a:off x="6421120" y="3759199"/>
            <a:ext cx="2722880" cy="1066800"/>
          </a:xfrm>
          <a:prstGeom prst="roundRect">
            <a:avLst>
              <a:gd name="adj" fmla="val 50000"/>
            </a:avLst>
          </a:prstGeom>
          <a:solidFill>
            <a:srgbClr val="F8D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4003040"/>
            <a:ext cx="2336800" cy="481990"/>
          </a:xfrm>
          <a:prstGeom prst="rect">
            <a:avLst/>
          </a:prstGeom>
          <a:noFill/>
        </p:spPr>
        <p:txBody>
          <a:bodyPr wrap="none" lIns="0" rIns="0" tIns="0" bIns="0">
            <a:spAutoFit/>
          </a:bodyPr>
          <a:lstStyle/>
          <a:p>
            <a:pPr>
              <a:lnSpc>
                <a:spcPct val="117000"/>
              </a:lnSpc>
              <a:spcBef>
                <a:spcPts val="0"/>
              </a:spcBef>
              <a:spcAft>
                <a:spcPts val="0"/>
              </a:spcAft>
              <a:defRPr sz="2560" b="1">
                <a:solidFill>
                  <a:srgbClr val="262626"/>
                </a:solidFill>
                <a:latin typeface="Liberation Sans"/>
              </a:defRPr>
            </a:pPr>
            <a:r>
              <a:t>Account B</a:t>
            </a:r>
          </a:p>
        </p:txBody>
      </p:sp>
      <p:sp>
        <p:nvSpPr>
          <p:cNvPr id="21" name="TextBox 20"/>
          <p:cNvSpPr txBox="1"/>
          <p:nvPr/>
        </p:nvSpPr>
        <p:spPr>
          <a:xfrm>
            <a:off x="6675120" y="5130800"/>
            <a:ext cx="2336800" cy="446328"/>
          </a:xfrm>
          <a:prstGeom prst="rect">
            <a:avLst/>
          </a:prstGeom>
          <a:noFill/>
        </p:spPr>
        <p:txBody>
          <a:bodyPr wrap="none" lIns="0" rIns="0" tIns="0" bIns="0">
            <a:spAutoFit/>
          </a:bodyPr>
          <a:lstStyle/>
          <a:p>
            <a:pPr>
              <a:lnSpc>
                <a:spcPct val="117000"/>
              </a:lnSpc>
              <a:spcBef>
                <a:spcPts val="0"/>
              </a:spcBef>
              <a:spcAft>
                <a:spcPts val="0"/>
              </a:spcAft>
              <a:defRPr sz="2320" b="0">
                <a:solidFill>
                  <a:srgbClr val="F2620F"/>
                </a:solidFill>
                <a:latin typeface="Liberation Sans"/>
              </a:defRPr>
            </a:pPr>
            <a:r>
              <a:t>10:10</a:t>
            </a:r>
          </a:p>
        </p:txBody>
      </p:sp>
      <p:sp>
        <p:nvSpPr>
          <p:cNvPr id="22" name="TextBox 21"/>
          <p:cNvSpPr txBox="1"/>
          <p:nvPr/>
        </p:nvSpPr>
        <p:spPr>
          <a:xfrm>
            <a:off x="9458960" y="3982719"/>
            <a:ext cx="711200" cy="624636"/>
          </a:xfrm>
          <a:prstGeom prst="rect">
            <a:avLst/>
          </a:prstGeom>
          <a:noFill/>
        </p:spPr>
        <p:txBody>
          <a:bodyPr wrap="none" lIns="0" rIns="0" tIns="0" bIns="0">
            <a:spAutoFit/>
          </a:bodyPr>
          <a:lstStyle/>
          <a:p>
            <a:pPr>
              <a:lnSpc>
                <a:spcPct val="117000"/>
              </a:lnSpc>
              <a:spcBef>
                <a:spcPts val="0"/>
              </a:spcBef>
              <a:spcAft>
                <a:spcPts val="0"/>
              </a:spcAft>
              <a:defRPr sz="3520" b="1">
                <a:solidFill>
                  <a:srgbClr val="F2620F"/>
                </a:solidFill>
                <a:latin typeface="Liberation Sans"/>
              </a:defRPr>
            </a:pPr>
            <a:r>
              <a:t>→</a:t>
            </a:r>
          </a:p>
        </p:txBody>
      </p:sp>
      <p:sp>
        <p:nvSpPr>
          <p:cNvPr id="23" name="Rounded Rectangle 22"/>
          <p:cNvSpPr/>
          <p:nvPr/>
        </p:nvSpPr>
        <p:spPr>
          <a:xfrm>
            <a:off x="10383520" y="3759199"/>
            <a:ext cx="2722880" cy="1066800"/>
          </a:xfrm>
          <a:prstGeom prst="roundRect">
            <a:avLst>
              <a:gd name="adj" fmla="val 50000"/>
            </a:avLst>
          </a:prstGeom>
          <a:solidFill>
            <a:srgbClr val="F8D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37520" y="4003040"/>
            <a:ext cx="2336800" cy="481990"/>
          </a:xfrm>
          <a:prstGeom prst="rect">
            <a:avLst/>
          </a:prstGeom>
          <a:noFill/>
        </p:spPr>
        <p:txBody>
          <a:bodyPr wrap="none" lIns="0" rIns="0" tIns="0" bIns="0">
            <a:spAutoFit/>
          </a:bodyPr>
          <a:lstStyle/>
          <a:p>
            <a:pPr>
              <a:lnSpc>
                <a:spcPct val="117000"/>
              </a:lnSpc>
              <a:spcBef>
                <a:spcPts val="0"/>
              </a:spcBef>
              <a:spcAft>
                <a:spcPts val="0"/>
              </a:spcAft>
              <a:defRPr sz="2560" b="1">
                <a:solidFill>
                  <a:srgbClr val="262626"/>
                </a:solidFill>
                <a:latin typeface="Liberation Sans"/>
              </a:defRPr>
            </a:pPr>
            <a:r>
              <a:t>Account C</a:t>
            </a:r>
          </a:p>
        </p:txBody>
      </p:sp>
      <p:sp>
        <p:nvSpPr>
          <p:cNvPr id="25" name="TextBox 24"/>
          <p:cNvSpPr txBox="1"/>
          <p:nvPr/>
        </p:nvSpPr>
        <p:spPr>
          <a:xfrm>
            <a:off x="10637520" y="5130800"/>
            <a:ext cx="2336800" cy="446328"/>
          </a:xfrm>
          <a:prstGeom prst="rect">
            <a:avLst/>
          </a:prstGeom>
          <a:noFill/>
        </p:spPr>
        <p:txBody>
          <a:bodyPr wrap="none" lIns="0" rIns="0" tIns="0" bIns="0">
            <a:spAutoFit/>
          </a:bodyPr>
          <a:lstStyle/>
          <a:p>
            <a:pPr>
              <a:lnSpc>
                <a:spcPct val="117000"/>
              </a:lnSpc>
              <a:spcBef>
                <a:spcPts val="0"/>
              </a:spcBef>
              <a:spcAft>
                <a:spcPts val="0"/>
              </a:spcAft>
              <a:defRPr sz="2320" b="0">
                <a:solidFill>
                  <a:srgbClr val="F2620F"/>
                </a:solidFill>
                <a:latin typeface="Liberation Sans"/>
              </a:defRPr>
            </a:pPr>
            <a:r>
              <a:t>10:20</a:t>
            </a:r>
          </a:p>
        </p:txBody>
      </p:sp>
      <p:sp>
        <p:nvSpPr>
          <p:cNvPr id="26" name="TextBox 25"/>
          <p:cNvSpPr txBox="1"/>
          <p:nvPr/>
        </p:nvSpPr>
        <p:spPr>
          <a:xfrm>
            <a:off x="2458720" y="5994400"/>
            <a:ext cx="11176000" cy="386892"/>
          </a:xfrm>
          <a:prstGeom prst="rect">
            <a:avLst/>
          </a:prstGeom>
          <a:noFill/>
        </p:spPr>
        <p:txBody>
          <a:bodyPr wrap="none" lIns="0" rIns="0" tIns="0" bIns="0">
            <a:spAutoFit/>
          </a:bodyPr>
          <a:lstStyle/>
          <a:p>
            <a:pPr>
              <a:lnSpc>
                <a:spcPct val="117000"/>
              </a:lnSpc>
              <a:spcBef>
                <a:spcPts val="0"/>
              </a:spcBef>
              <a:spcAft>
                <a:spcPts val="0"/>
              </a:spcAft>
              <a:defRPr sz="1920" b="0">
                <a:solidFill>
                  <a:srgbClr val="262626"/>
                </a:solidFill>
                <a:latin typeface="Liberation Sans"/>
              </a:defRPr>
            </a:pPr>
            <a:r>
              <a:t>Illustrative sequence - not a measured transaction from the dataset.</a:t>
            </a:r>
          </a:p>
        </p:txBody>
      </p:sp>
      <p:sp>
        <p:nvSpPr>
          <p:cNvPr id="27" name="TextBox 26"/>
          <p:cNvSpPr txBox="1"/>
          <p:nvPr/>
        </p:nvSpPr>
        <p:spPr>
          <a:xfrm>
            <a:off x="2458720" y="6532880"/>
            <a:ext cx="10668000" cy="386892"/>
          </a:xfrm>
          <a:prstGeom prst="rect">
            <a:avLst/>
          </a:prstGeom>
          <a:noFill/>
        </p:spPr>
        <p:txBody>
          <a:bodyPr wrap="none" lIns="0" rIns="0" tIns="0" bIns="0">
            <a:spAutoFit/>
          </a:bodyPr>
          <a:lstStyle/>
          <a:p>
            <a:pPr>
              <a:lnSpc>
                <a:spcPct val="117000"/>
              </a:lnSpc>
              <a:spcBef>
                <a:spcPts val="0"/>
              </a:spcBef>
              <a:spcAft>
                <a:spcPts val="0"/>
              </a:spcAft>
              <a:defRPr sz="1920" b="1">
                <a:solidFill>
                  <a:srgbClr val="F2620F"/>
                </a:solidFill>
                <a:latin typeface="Liberation Sans"/>
              </a:defRPr>
            </a:pPr>
            <a:r>
              <a:t>LIVE DEMO / Network explorer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7F7"/>
        </a:solidFill>
        <a:effectLst/>
      </p:bgPr>
    </p:bg>
    <p:spTree>
      <p:nvGrpSpPr>
        <p:cNvPr id="1" name=""/>
        <p:cNvGrpSpPr/>
        <p:nvPr/>
      </p:nvGrpSpPr>
      <p:grpSpPr/>
      <p:sp>
        <p:nvSpPr>
          <p:cNvPr id="2" name="Rounded Rectangle 1"/>
          <p:cNvSpPr/>
          <p:nvPr/>
        </p:nvSpPr>
        <p:spPr>
          <a:xfrm>
            <a:off x="-508000" y="0"/>
            <a:ext cx="12131040" cy="762000"/>
          </a:xfrm>
          <a:prstGeom prst="roundRect">
            <a:avLst>
              <a:gd name="adj" fmla="val 50000"/>
            </a:avLst>
          </a:prstGeom>
          <a:solidFill>
            <a:srgbClr val="F8D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8000" y="0"/>
            <a:ext cx="11003280" cy="76200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8000" y="0"/>
            <a:ext cx="9875520" cy="762000"/>
          </a:xfrm>
          <a:prstGeom prst="roundRect">
            <a:avLst>
              <a:gd name="adj" fmla="val 50000"/>
            </a:avLst>
          </a:prstGeom>
          <a:solidFill>
            <a:srgbClr val="F6A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8000" y="0"/>
            <a:ext cx="8747760" cy="762000"/>
          </a:xfrm>
          <a:prstGeom prst="roundRect">
            <a:avLst>
              <a:gd name="adj" fmla="val 50000"/>
            </a:avLst>
          </a:prstGeom>
          <a:solidFill>
            <a:srgbClr val="F68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8000" y="0"/>
            <a:ext cx="7620000" cy="762000"/>
          </a:xfrm>
          <a:prstGeom prst="roundRect">
            <a:avLst>
              <a:gd name="adj" fmla="val 50000"/>
            </a:avLst>
          </a:prstGeom>
          <a:solidFill>
            <a:srgbClr val="F47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8000" y="0"/>
            <a:ext cx="6492240" cy="76200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rot="18900000">
            <a:off x="792480" y="1524000"/>
            <a:ext cx="843280" cy="29464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rot="2700000">
            <a:off x="792480" y="1524000"/>
            <a:ext cx="843280" cy="29464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58720" y="1320800"/>
            <a:ext cx="11297920" cy="826719"/>
          </a:xfrm>
          <a:prstGeom prst="rect">
            <a:avLst/>
          </a:prstGeom>
          <a:noFill/>
        </p:spPr>
        <p:txBody>
          <a:bodyPr wrap="none" lIns="0" rIns="0" tIns="0" bIns="0">
            <a:spAutoFit/>
          </a:bodyPr>
          <a:lstStyle/>
          <a:p>
            <a:pPr>
              <a:lnSpc>
                <a:spcPct val="117000"/>
              </a:lnSpc>
              <a:spcBef>
                <a:spcPts val="0"/>
              </a:spcBef>
              <a:spcAft>
                <a:spcPts val="0"/>
              </a:spcAft>
              <a:defRPr sz="4880" b="1">
                <a:solidFill>
                  <a:srgbClr val="262626"/>
                </a:solidFill>
                <a:latin typeface="Liberation Sans"/>
              </a:defRPr>
            </a:pPr>
            <a:r>
              <a:t>The reviewer stays in control.</a:t>
            </a:r>
          </a:p>
        </p:txBody>
      </p:sp>
      <p:sp>
        <p:nvSpPr>
          <p:cNvPr id="11" name="Rectangle 10"/>
          <p:cNvSpPr/>
          <p:nvPr/>
        </p:nvSpPr>
        <p:spPr>
          <a:xfrm>
            <a:off x="0" y="7487919"/>
            <a:ext cx="13888720" cy="10160"/>
          </a:xfrm>
          <a:prstGeom prst="rect">
            <a:avLst/>
          </a:prstGeom>
          <a:solidFill>
            <a:srgbClr val="858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1840" y="7701280"/>
            <a:ext cx="711200" cy="320040"/>
          </a:xfrm>
          <a:prstGeom prst="rect">
            <a:avLst/>
          </a:prstGeom>
          <a:noFill/>
        </p:spPr>
        <p:txBody>
          <a:bodyPr wrap="none" lIns="0" tIns="0">
            <a:spAutoFit/>
          </a:bodyPr>
          <a:lstStyle/>
          <a:p>
            <a:pPr>
              <a:defRPr sz="1800" b="1">
                <a:solidFill>
                  <a:srgbClr val="F2620F"/>
                </a:solidFill>
                <a:latin typeface="Liberation Sans"/>
              </a:defRPr>
            </a:pPr>
            <a:r>
              <a:t>09.</a:t>
            </a:r>
          </a:p>
        </p:txBody>
      </p:sp>
      <p:sp>
        <p:nvSpPr>
          <p:cNvPr id="13" name="TextBox 12"/>
          <p:cNvSpPr txBox="1"/>
          <p:nvPr/>
        </p:nvSpPr>
        <p:spPr>
          <a:xfrm>
            <a:off x="2458720" y="7701280"/>
            <a:ext cx="6096000" cy="320040"/>
          </a:xfrm>
          <a:prstGeom prst="rect">
            <a:avLst/>
          </a:prstGeom>
          <a:noFill/>
        </p:spPr>
        <p:txBody>
          <a:bodyPr wrap="none" lIns="0" tIns="0">
            <a:spAutoFit/>
          </a:bodyPr>
          <a:lstStyle/>
          <a:p>
            <a:pPr>
              <a:defRPr sz="1400" b="0">
                <a:solidFill>
                  <a:srgbClr val="575757"/>
                </a:solidFill>
                <a:latin typeface="Liberation Sans"/>
              </a:defRPr>
            </a:pPr>
            <a:r>
              <a:t>FINTRACE / PROJECT DEMO</a:t>
            </a:r>
          </a:p>
        </p:txBody>
      </p:sp>
      <p:sp>
        <p:nvSpPr>
          <p:cNvPr id="14" name="TextBox 13"/>
          <p:cNvSpPr txBox="1"/>
          <p:nvPr/>
        </p:nvSpPr>
        <p:spPr>
          <a:xfrm>
            <a:off x="11887200" y="7701280"/>
            <a:ext cx="2032000" cy="320040"/>
          </a:xfrm>
          <a:prstGeom prst="rect">
            <a:avLst/>
          </a:prstGeom>
          <a:noFill/>
        </p:spPr>
        <p:txBody>
          <a:bodyPr wrap="none" lIns="0" tIns="0">
            <a:spAutoFit/>
          </a:bodyPr>
          <a:lstStyle/>
          <a:p>
            <a:pPr>
              <a:defRPr sz="1400" b="0">
                <a:solidFill>
                  <a:srgbClr val="262626"/>
                </a:solidFill>
                <a:latin typeface="Liberation Sans"/>
              </a:defRPr>
            </a:pPr>
            <a:r>
              <a:t>PERSON 4</a:t>
            </a:r>
          </a:p>
        </p:txBody>
      </p:sp>
      <p:sp>
        <p:nvSpPr>
          <p:cNvPr id="15" name="TextBox 14"/>
          <p:cNvSpPr txBox="1"/>
          <p:nvPr/>
        </p:nvSpPr>
        <p:spPr>
          <a:xfrm>
            <a:off x="2458720" y="4064000"/>
            <a:ext cx="3386666" cy="446328"/>
          </a:xfrm>
          <a:prstGeom prst="rect">
            <a:avLst/>
          </a:prstGeom>
          <a:noFill/>
        </p:spPr>
        <p:txBody>
          <a:bodyPr wrap="none" lIns="0" rIns="0" tIns="0" bIns="0">
            <a:spAutoFit/>
          </a:bodyPr>
          <a:lstStyle/>
          <a:p>
            <a:pPr>
              <a:lnSpc>
                <a:spcPct val="117000"/>
              </a:lnSpc>
              <a:spcBef>
                <a:spcPts val="0"/>
              </a:spcBef>
              <a:spcAft>
                <a:spcPts val="0"/>
              </a:spcAft>
              <a:defRPr sz="2320" b="1">
                <a:solidFill>
                  <a:srgbClr val="262626"/>
                </a:solidFill>
                <a:latin typeface="Liberation Sans"/>
              </a:defRPr>
            </a:pPr>
            <a:r>
              <a:t>Inspect</a:t>
            </a:r>
          </a:p>
        </p:txBody>
      </p:sp>
      <p:sp>
        <p:nvSpPr>
          <p:cNvPr id="16" name="TextBox 15"/>
          <p:cNvSpPr txBox="1"/>
          <p:nvPr/>
        </p:nvSpPr>
        <p:spPr>
          <a:xfrm>
            <a:off x="2458720" y="4714240"/>
            <a:ext cx="3386666" cy="695960"/>
          </a:xfrm>
          <a:prstGeom prst="rect">
            <a:avLst/>
          </a:prstGeom>
          <a:noFill/>
        </p:spPr>
        <p:txBody>
          <a:bodyPr wrap="none" lIns="0" rIns="0" tIns="0" bIns="0">
            <a:spAutoFit/>
          </a:bodyPr>
          <a:lstStyle/>
          <a:p>
            <a:pPr>
              <a:lnSpc>
                <a:spcPct val="117000"/>
              </a:lnSpc>
              <a:spcBef>
                <a:spcPts val="0"/>
              </a:spcBef>
              <a:spcAft>
                <a:spcPts val="0"/>
              </a:spcAft>
              <a:defRPr sz="2000" b="0">
                <a:solidFill>
                  <a:srgbClr val="262626"/>
                </a:solidFill>
                <a:latin typeface="Liberation Sans"/>
              </a:defRPr>
            </a:pPr>
            <a:r>
              <a:t>Read the finding and its limits</a:t>
            </a:r>
          </a:p>
          <a:p>
            <a:pPr>
              <a:lnSpc>
                <a:spcPct val="117000"/>
              </a:lnSpc>
              <a:spcBef>
                <a:spcPts val="0"/>
              </a:spcBef>
              <a:spcAft>
                <a:spcPts val="0"/>
              </a:spcAft>
              <a:defRPr sz="2000" b="0">
                <a:solidFill>
                  <a:srgbClr val="262626"/>
                </a:solidFill>
                <a:latin typeface="Liberation Sans"/>
              </a:defRPr>
            </a:pPr>
            <a:r>
              <a:t>before acting.</a:t>
            </a:r>
          </a:p>
        </p:txBody>
      </p:sp>
      <p:sp>
        <p:nvSpPr>
          <p:cNvPr id="17" name="TextBox 16"/>
          <p:cNvSpPr txBox="1"/>
          <p:nvPr/>
        </p:nvSpPr>
        <p:spPr>
          <a:xfrm>
            <a:off x="6404186" y="4064000"/>
            <a:ext cx="3386666" cy="446328"/>
          </a:xfrm>
          <a:prstGeom prst="rect">
            <a:avLst/>
          </a:prstGeom>
          <a:noFill/>
        </p:spPr>
        <p:txBody>
          <a:bodyPr wrap="none" lIns="0" rIns="0" tIns="0" bIns="0">
            <a:spAutoFit/>
          </a:bodyPr>
          <a:lstStyle/>
          <a:p>
            <a:pPr>
              <a:lnSpc>
                <a:spcPct val="117000"/>
              </a:lnSpc>
              <a:spcBef>
                <a:spcPts val="0"/>
              </a:spcBef>
              <a:spcAft>
                <a:spcPts val="0"/>
              </a:spcAft>
              <a:defRPr sz="2320" b="1">
                <a:solidFill>
                  <a:srgbClr val="262626"/>
                </a:solidFill>
                <a:latin typeface="Liberation Sans"/>
              </a:defRPr>
            </a:pPr>
            <a:r>
              <a:t>Record</a:t>
            </a:r>
          </a:p>
        </p:txBody>
      </p:sp>
      <p:sp>
        <p:nvSpPr>
          <p:cNvPr id="18" name="TextBox 17"/>
          <p:cNvSpPr txBox="1"/>
          <p:nvPr/>
        </p:nvSpPr>
        <p:spPr>
          <a:xfrm>
            <a:off x="6404186" y="4714240"/>
            <a:ext cx="3386666" cy="695960"/>
          </a:xfrm>
          <a:prstGeom prst="rect">
            <a:avLst/>
          </a:prstGeom>
          <a:noFill/>
        </p:spPr>
        <p:txBody>
          <a:bodyPr wrap="none" lIns="0" rIns="0" tIns="0" bIns="0">
            <a:spAutoFit/>
          </a:bodyPr>
          <a:lstStyle/>
          <a:p>
            <a:pPr>
              <a:lnSpc>
                <a:spcPct val="117000"/>
              </a:lnSpc>
              <a:spcBef>
                <a:spcPts val="0"/>
              </a:spcBef>
              <a:spcAft>
                <a:spcPts val="0"/>
              </a:spcAft>
              <a:defRPr sz="2000" b="0">
                <a:solidFill>
                  <a:srgbClr val="262626"/>
                </a:solidFill>
                <a:latin typeface="Liberation Sans"/>
              </a:defRPr>
            </a:pPr>
            <a:r>
              <a:t>Name the reviewer, choose</a:t>
            </a:r>
          </a:p>
          <a:p>
            <a:pPr>
              <a:lnSpc>
                <a:spcPct val="117000"/>
              </a:lnSpc>
              <a:spcBef>
                <a:spcPts val="0"/>
              </a:spcBef>
              <a:spcAft>
                <a:spcPts val="0"/>
              </a:spcAft>
              <a:defRPr sz="2000" b="0">
                <a:solidFill>
                  <a:srgbClr val="262626"/>
                </a:solidFill>
                <a:latin typeface="Liberation Sans"/>
              </a:defRPr>
            </a:pPr>
            <a:r>
              <a:t>the status and give a reason.</a:t>
            </a:r>
          </a:p>
        </p:txBody>
      </p:sp>
      <p:sp>
        <p:nvSpPr>
          <p:cNvPr id="19" name="TextBox 18"/>
          <p:cNvSpPr txBox="1"/>
          <p:nvPr/>
        </p:nvSpPr>
        <p:spPr>
          <a:xfrm>
            <a:off x="10349653" y="4064000"/>
            <a:ext cx="3386666" cy="446328"/>
          </a:xfrm>
          <a:prstGeom prst="rect">
            <a:avLst/>
          </a:prstGeom>
          <a:noFill/>
        </p:spPr>
        <p:txBody>
          <a:bodyPr wrap="none" lIns="0" rIns="0" tIns="0" bIns="0">
            <a:spAutoFit/>
          </a:bodyPr>
          <a:lstStyle/>
          <a:p>
            <a:pPr>
              <a:lnSpc>
                <a:spcPct val="117000"/>
              </a:lnSpc>
              <a:spcBef>
                <a:spcPts val="0"/>
              </a:spcBef>
              <a:spcAft>
                <a:spcPts val="0"/>
              </a:spcAft>
              <a:defRPr sz="2320" b="1">
                <a:solidFill>
                  <a:srgbClr val="262626"/>
                </a:solidFill>
                <a:latin typeface="Liberation Sans"/>
              </a:defRPr>
            </a:pPr>
            <a:r>
              <a:t>Keep the history</a:t>
            </a:r>
          </a:p>
        </p:txBody>
      </p:sp>
      <p:sp>
        <p:nvSpPr>
          <p:cNvPr id="20" name="TextBox 19"/>
          <p:cNvSpPr txBox="1"/>
          <p:nvPr/>
        </p:nvSpPr>
        <p:spPr>
          <a:xfrm>
            <a:off x="10349653" y="4714240"/>
            <a:ext cx="3386666" cy="993139"/>
          </a:xfrm>
          <a:prstGeom prst="rect">
            <a:avLst/>
          </a:prstGeom>
          <a:noFill/>
        </p:spPr>
        <p:txBody>
          <a:bodyPr wrap="none" lIns="0" rIns="0" tIns="0" bIns="0">
            <a:spAutoFit/>
          </a:bodyPr>
          <a:lstStyle/>
          <a:p>
            <a:pPr>
              <a:lnSpc>
                <a:spcPct val="117000"/>
              </a:lnSpc>
              <a:spcBef>
                <a:spcPts val="0"/>
              </a:spcBef>
              <a:spcAft>
                <a:spcPts val="0"/>
              </a:spcAft>
              <a:defRPr sz="2000" b="0">
                <a:solidFill>
                  <a:srgbClr val="262626"/>
                </a:solidFill>
                <a:latin typeface="Liberation Sans"/>
              </a:defRPr>
            </a:pPr>
            <a:r>
              <a:t>Time, actor, action and</a:t>
            </a:r>
          </a:p>
          <a:p>
            <a:pPr>
              <a:lnSpc>
                <a:spcPct val="117000"/>
              </a:lnSpc>
              <a:spcBef>
                <a:spcPts val="0"/>
              </a:spcBef>
              <a:spcAft>
                <a:spcPts val="0"/>
              </a:spcAft>
              <a:defRPr sz="2000" b="0">
                <a:solidFill>
                  <a:srgbClr val="262626"/>
                </a:solidFill>
                <a:latin typeface="Liberation Sans"/>
              </a:defRPr>
            </a:pPr>
            <a:r>
              <a:t>reason remain in the audit</a:t>
            </a:r>
          </a:p>
          <a:p>
            <a:pPr>
              <a:lnSpc>
                <a:spcPct val="117000"/>
              </a:lnSpc>
              <a:spcBef>
                <a:spcPts val="0"/>
              </a:spcBef>
              <a:spcAft>
                <a:spcPts val="0"/>
              </a:spcAft>
              <a:defRPr sz="2000" b="0">
                <a:solidFill>
                  <a:srgbClr val="262626"/>
                </a:solidFill>
                <a:latin typeface="Liberation Sans"/>
              </a:defRPr>
            </a:pPr>
            <a:r>
              <a:t>trail.</a:t>
            </a:r>
          </a:p>
        </p:txBody>
      </p:sp>
      <p:sp>
        <p:nvSpPr>
          <p:cNvPr id="21" name="TextBox 20"/>
          <p:cNvSpPr txBox="1"/>
          <p:nvPr/>
        </p:nvSpPr>
        <p:spPr>
          <a:xfrm>
            <a:off x="2458720" y="6532880"/>
            <a:ext cx="11277600" cy="386892"/>
          </a:xfrm>
          <a:prstGeom prst="rect">
            <a:avLst/>
          </a:prstGeom>
          <a:noFill/>
        </p:spPr>
        <p:txBody>
          <a:bodyPr wrap="none" lIns="0" rIns="0" tIns="0" bIns="0">
            <a:spAutoFit/>
          </a:bodyPr>
          <a:lstStyle/>
          <a:p>
            <a:pPr>
              <a:lnSpc>
                <a:spcPct val="117000"/>
              </a:lnSpc>
              <a:spcBef>
                <a:spcPts val="0"/>
              </a:spcBef>
              <a:spcAft>
                <a:spcPts val="0"/>
              </a:spcAft>
              <a:defRPr sz="1920" b="1">
                <a:solidFill>
                  <a:srgbClr val="F2620F"/>
                </a:solidFill>
                <a:latin typeface="Liberation Sans"/>
              </a:defRPr>
            </a:pPr>
            <a:r>
              <a:t>LIVE DEMO / Review &amp; audit - use the demo database only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7F7"/>
        </a:solidFill>
        <a:effectLst/>
      </p:bgPr>
    </p:bg>
    <p:spTree>
      <p:nvGrpSpPr>
        <p:cNvPr id="1" name=""/>
        <p:cNvGrpSpPr/>
        <p:nvPr/>
      </p:nvGrpSpPr>
      <p:grpSpPr/>
      <p:sp>
        <p:nvSpPr>
          <p:cNvPr id="2" name="Rounded Rectangle 1"/>
          <p:cNvSpPr/>
          <p:nvPr/>
        </p:nvSpPr>
        <p:spPr>
          <a:xfrm>
            <a:off x="-508000" y="0"/>
            <a:ext cx="12131040" cy="762000"/>
          </a:xfrm>
          <a:prstGeom prst="roundRect">
            <a:avLst>
              <a:gd name="adj" fmla="val 50000"/>
            </a:avLst>
          </a:prstGeom>
          <a:solidFill>
            <a:srgbClr val="F8D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8000" y="0"/>
            <a:ext cx="11003280" cy="76200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8000" y="0"/>
            <a:ext cx="9875520" cy="762000"/>
          </a:xfrm>
          <a:prstGeom prst="roundRect">
            <a:avLst>
              <a:gd name="adj" fmla="val 50000"/>
            </a:avLst>
          </a:prstGeom>
          <a:solidFill>
            <a:srgbClr val="F6A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8000" y="0"/>
            <a:ext cx="8747760" cy="762000"/>
          </a:xfrm>
          <a:prstGeom prst="roundRect">
            <a:avLst>
              <a:gd name="adj" fmla="val 50000"/>
            </a:avLst>
          </a:prstGeom>
          <a:solidFill>
            <a:srgbClr val="F68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8000" y="0"/>
            <a:ext cx="7620000" cy="762000"/>
          </a:xfrm>
          <a:prstGeom prst="roundRect">
            <a:avLst>
              <a:gd name="adj" fmla="val 50000"/>
            </a:avLst>
          </a:prstGeom>
          <a:solidFill>
            <a:srgbClr val="F47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8000" y="0"/>
            <a:ext cx="6492240" cy="76200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rot="18900000">
            <a:off x="792480" y="1524000"/>
            <a:ext cx="843280" cy="29464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rot="2700000">
            <a:off x="792480" y="1524000"/>
            <a:ext cx="843280" cy="29464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58720" y="1320800"/>
            <a:ext cx="11297920" cy="826719"/>
          </a:xfrm>
          <a:prstGeom prst="rect">
            <a:avLst/>
          </a:prstGeom>
          <a:noFill/>
        </p:spPr>
        <p:txBody>
          <a:bodyPr wrap="none" lIns="0" rIns="0" tIns="0" bIns="0">
            <a:spAutoFit/>
          </a:bodyPr>
          <a:lstStyle/>
          <a:p>
            <a:pPr>
              <a:lnSpc>
                <a:spcPct val="117000"/>
              </a:lnSpc>
              <a:spcBef>
                <a:spcPts val="0"/>
              </a:spcBef>
              <a:spcAft>
                <a:spcPts val="0"/>
              </a:spcAft>
              <a:defRPr sz="4880" b="1">
                <a:solidFill>
                  <a:srgbClr val="262626"/>
                </a:solidFill>
                <a:latin typeface="Liberation Sans"/>
              </a:defRPr>
            </a:pPr>
            <a:r>
              <a:t>Trust the checks - not a claim.</a:t>
            </a:r>
          </a:p>
        </p:txBody>
      </p:sp>
      <p:sp>
        <p:nvSpPr>
          <p:cNvPr id="11" name="Rectangle 10"/>
          <p:cNvSpPr/>
          <p:nvPr/>
        </p:nvSpPr>
        <p:spPr>
          <a:xfrm>
            <a:off x="0" y="7487919"/>
            <a:ext cx="13888720" cy="10160"/>
          </a:xfrm>
          <a:prstGeom prst="rect">
            <a:avLst/>
          </a:prstGeom>
          <a:solidFill>
            <a:srgbClr val="858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1840" y="7701280"/>
            <a:ext cx="711200" cy="320040"/>
          </a:xfrm>
          <a:prstGeom prst="rect">
            <a:avLst/>
          </a:prstGeom>
          <a:noFill/>
        </p:spPr>
        <p:txBody>
          <a:bodyPr wrap="none" lIns="0" tIns="0">
            <a:spAutoFit/>
          </a:bodyPr>
          <a:lstStyle/>
          <a:p>
            <a:pPr>
              <a:defRPr sz="1800" b="1">
                <a:solidFill>
                  <a:srgbClr val="F2620F"/>
                </a:solidFill>
                <a:latin typeface="Liberation Sans"/>
              </a:defRPr>
            </a:pPr>
            <a:r>
              <a:t>10.</a:t>
            </a:r>
          </a:p>
        </p:txBody>
      </p:sp>
      <p:sp>
        <p:nvSpPr>
          <p:cNvPr id="13" name="TextBox 12"/>
          <p:cNvSpPr txBox="1"/>
          <p:nvPr/>
        </p:nvSpPr>
        <p:spPr>
          <a:xfrm>
            <a:off x="2458720" y="7701280"/>
            <a:ext cx="6096000" cy="320040"/>
          </a:xfrm>
          <a:prstGeom prst="rect">
            <a:avLst/>
          </a:prstGeom>
          <a:noFill/>
        </p:spPr>
        <p:txBody>
          <a:bodyPr wrap="none" lIns="0" tIns="0">
            <a:spAutoFit/>
          </a:bodyPr>
          <a:lstStyle/>
          <a:p>
            <a:pPr>
              <a:defRPr sz="1400" b="0">
                <a:solidFill>
                  <a:srgbClr val="575757"/>
                </a:solidFill>
                <a:latin typeface="Liberation Sans"/>
              </a:defRPr>
            </a:pPr>
            <a:r>
              <a:t>FINTRACE / PROJECT DEMO</a:t>
            </a:r>
          </a:p>
        </p:txBody>
      </p:sp>
      <p:sp>
        <p:nvSpPr>
          <p:cNvPr id="14" name="TextBox 13"/>
          <p:cNvSpPr txBox="1"/>
          <p:nvPr/>
        </p:nvSpPr>
        <p:spPr>
          <a:xfrm>
            <a:off x="11887200" y="7701280"/>
            <a:ext cx="2032000" cy="320040"/>
          </a:xfrm>
          <a:prstGeom prst="rect">
            <a:avLst/>
          </a:prstGeom>
          <a:noFill/>
        </p:spPr>
        <p:txBody>
          <a:bodyPr wrap="none" lIns="0" tIns="0">
            <a:spAutoFit/>
          </a:bodyPr>
          <a:lstStyle/>
          <a:p>
            <a:pPr>
              <a:defRPr sz="1400" b="0">
                <a:solidFill>
                  <a:srgbClr val="262626"/>
                </a:solidFill>
                <a:latin typeface="Liberation Sans"/>
              </a:defRPr>
            </a:pPr>
            <a:r>
              <a:t>PERSON 4</a:t>
            </a:r>
          </a:p>
        </p:txBody>
      </p:sp>
      <p:sp>
        <p:nvSpPr>
          <p:cNvPr id="15" name="TextBox 14"/>
          <p:cNvSpPr txBox="1"/>
          <p:nvPr/>
        </p:nvSpPr>
        <p:spPr>
          <a:xfrm>
            <a:off x="2458720" y="4064000"/>
            <a:ext cx="3386666" cy="446328"/>
          </a:xfrm>
          <a:prstGeom prst="rect">
            <a:avLst/>
          </a:prstGeom>
          <a:noFill/>
        </p:spPr>
        <p:txBody>
          <a:bodyPr wrap="none" lIns="0" rIns="0" tIns="0" bIns="0">
            <a:spAutoFit/>
          </a:bodyPr>
          <a:lstStyle/>
          <a:p>
            <a:pPr>
              <a:lnSpc>
                <a:spcPct val="117000"/>
              </a:lnSpc>
              <a:spcBef>
                <a:spcPts val="0"/>
              </a:spcBef>
              <a:spcAft>
                <a:spcPts val="0"/>
              </a:spcAft>
              <a:defRPr sz="2320" b="1">
                <a:solidFill>
                  <a:srgbClr val="262626"/>
                </a:solidFill>
                <a:latin typeface="Liberation Sans"/>
              </a:defRPr>
            </a:pPr>
            <a:r>
              <a:t>No answer leakage</a:t>
            </a:r>
          </a:p>
        </p:txBody>
      </p:sp>
      <p:sp>
        <p:nvSpPr>
          <p:cNvPr id="16" name="TextBox 15"/>
          <p:cNvSpPr txBox="1"/>
          <p:nvPr/>
        </p:nvSpPr>
        <p:spPr>
          <a:xfrm>
            <a:off x="2458720" y="4714240"/>
            <a:ext cx="3386666" cy="695960"/>
          </a:xfrm>
          <a:prstGeom prst="rect">
            <a:avLst/>
          </a:prstGeom>
          <a:noFill/>
        </p:spPr>
        <p:txBody>
          <a:bodyPr wrap="none" lIns="0" rIns="0" tIns="0" bIns="0">
            <a:spAutoFit/>
          </a:bodyPr>
          <a:lstStyle/>
          <a:p>
            <a:pPr>
              <a:lnSpc>
                <a:spcPct val="117000"/>
              </a:lnSpc>
              <a:spcBef>
                <a:spcPts val="0"/>
              </a:spcBef>
              <a:spcAft>
                <a:spcPts val="0"/>
              </a:spcAft>
              <a:defRPr sz="2000" b="0">
                <a:solidFill>
                  <a:srgbClr val="262626"/>
                </a:solidFill>
                <a:latin typeface="Liberation Sans"/>
              </a:defRPr>
            </a:pPr>
            <a:r>
              <a:t>Benchmark labels never feed</a:t>
            </a:r>
          </a:p>
          <a:p>
            <a:pPr>
              <a:lnSpc>
                <a:spcPct val="117000"/>
              </a:lnSpc>
              <a:spcBef>
                <a:spcPts val="0"/>
              </a:spcBef>
              <a:spcAft>
                <a:spcPts val="0"/>
              </a:spcAft>
              <a:defRPr sz="2000" b="0">
                <a:solidFill>
                  <a:srgbClr val="262626"/>
                </a:solidFill>
                <a:latin typeface="Liberation Sans"/>
              </a:defRPr>
            </a:pPr>
            <a:r>
              <a:t>detectors or priority scores.</a:t>
            </a:r>
          </a:p>
        </p:txBody>
      </p:sp>
      <p:sp>
        <p:nvSpPr>
          <p:cNvPr id="17" name="TextBox 16"/>
          <p:cNvSpPr txBox="1"/>
          <p:nvPr/>
        </p:nvSpPr>
        <p:spPr>
          <a:xfrm>
            <a:off x="6404186" y="4064000"/>
            <a:ext cx="3386666" cy="446328"/>
          </a:xfrm>
          <a:prstGeom prst="rect">
            <a:avLst/>
          </a:prstGeom>
          <a:noFill/>
        </p:spPr>
        <p:txBody>
          <a:bodyPr wrap="none" lIns="0" rIns="0" tIns="0" bIns="0">
            <a:spAutoFit/>
          </a:bodyPr>
          <a:lstStyle/>
          <a:p>
            <a:pPr>
              <a:lnSpc>
                <a:spcPct val="117000"/>
              </a:lnSpc>
              <a:spcBef>
                <a:spcPts val="0"/>
              </a:spcBef>
              <a:spcAft>
                <a:spcPts val="0"/>
              </a:spcAft>
              <a:defRPr sz="2320" b="1">
                <a:solidFill>
                  <a:srgbClr val="262626"/>
                </a:solidFill>
                <a:latin typeface="Liberation Sans"/>
              </a:defRPr>
            </a:pPr>
            <a:r>
              <a:t>Traceable evidence</a:t>
            </a:r>
          </a:p>
        </p:txBody>
      </p:sp>
      <p:sp>
        <p:nvSpPr>
          <p:cNvPr id="18" name="TextBox 17"/>
          <p:cNvSpPr txBox="1"/>
          <p:nvPr/>
        </p:nvSpPr>
        <p:spPr>
          <a:xfrm>
            <a:off x="6404186" y="4714240"/>
            <a:ext cx="3386666" cy="993139"/>
          </a:xfrm>
          <a:prstGeom prst="rect">
            <a:avLst/>
          </a:prstGeom>
          <a:noFill/>
        </p:spPr>
        <p:txBody>
          <a:bodyPr wrap="none" lIns="0" rIns="0" tIns="0" bIns="0">
            <a:spAutoFit/>
          </a:bodyPr>
          <a:lstStyle/>
          <a:p>
            <a:pPr>
              <a:lnSpc>
                <a:spcPct val="117000"/>
              </a:lnSpc>
              <a:spcBef>
                <a:spcPts val="0"/>
              </a:spcBef>
              <a:spcAft>
                <a:spcPts val="0"/>
              </a:spcAft>
              <a:defRPr sz="2000" b="0">
                <a:solidFill>
                  <a:srgbClr val="262626"/>
                </a:solidFill>
                <a:latin typeface="Liberation Sans"/>
              </a:defRPr>
            </a:pPr>
            <a:r>
              <a:t>Exact amounts, source</a:t>
            </a:r>
          </a:p>
          <a:p>
            <a:pPr>
              <a:lnSpc>
                <a:spcPct val="117000"/>
              </a:lnSpc>
              <a:spcBef>
                <a:spcPts val="0"/>
              </a:spcBef>
              <a:spcAft>
                <a:spcPts val="0"/>
              </a:spcAft>
              <a:defRPr sz="2000" b="0">
                <a:solidFill>
                  <a:srgbClr val="262626"/>
                </a:solidFill>
                <a:latin typeface="Liberation Sans"/>
              </a:defRPr>
            </a:pPr>
            <a:r>
              <a:t>references and visible</a:t>
            </a:r>
          </a:p>
          <a:p>
            <a:pPr>
              <a:lnSpc>
                <a:spcPct val="117000"/>
              </a:lnSpc>
              <a:spcBef>
                <a:spcPts val="0"/>
              </a:spcBef>
              <a:spcAft>
                <a:spcPts val="0"/>
              </a:spcAft>
              <a:defRPr sz="2000" b="0">
                <a:solidFill>
                  <a:srgbClr val="262626"/>
                </a:solidFill>
                <a:latin typeface="Liberation Sans"/>
              </a:defRPr>
            </a:pPr>
            <a:r>
              <a:t>analysis limits.</a:t>
            </a:r>
          </a:p>
        </p:txBody>
      </p:sp>
      <p:sp>
        <p:nvSpPr>
          <p:cNvPr id="19" name="TextBox 18"/>
          <p:cNvSpPr txBox="1"/>
          <p:nvPr/>
        </p:nvSpPr>
        <p:spPr>
          <a:xfrm>
            <a:off x="10349653" y="4064000"/>
            <a:ext cx="3386666" cy="446328"/>
          </a:xfrm>
          <a:prstGeom prst="rect">
            <a:avLst/>
          </a:prstGeom>
          <a:noFill/>
        </p:spPr>
        <p:txBody>
          <a:bodyPr wrap="none" lIns="0" rIns="0" tIns="0" bIns="0">
            <a:spAutoFit/>
          </a:bodyPr>
          <a:lstStyle/>
          <a:p>
            <a:pPr>
              <a:lnSpc>
                <a:spcPct val="117000"/>
              </a:lnSpc>
              <a:spcBef>
                <a:spcPts val="0"/>
              </a:spcBef>
              <a:spcAft>
                <a:spcPts val="0"/>
              </a:spcAft>
              <a:defRPr sz="2320" b="1">
                <a:solidFill>
                  <a:srgbClr val="262626"/>
                </a:solidFill>
                <a:latin typeface="Liberation Sans"/>
              </a:defRPr>
            </a:pPr>
            <a:r>
              <a:t>Regression checks</a:t>
            </a:r>
          </a:p>
        </p:txBody>
      </p:sp>
      <p:sp>
        <p:nvSpPr>
          <p:cNvPr id="20" name="TextBox 19"/>
          <p:cNvSpPr txBox="1"/>
          <p:nvPr/>
        </p:nvSpPr>
        <p:spPr>
          <a:xfrm>
            <a:off x="10349653" y="4714240"/>
            <a:ext cx="3386666" cy="993139"/>
          </a:xfrm>
          <a:prstGeom prst="rect">
            <a:avLst/>
          </a:prstGeom>
          <a:noFill/>
        </p:spPr>
        <p:txBody>
          <a:bodyPr wrap="none" lIns="0" rIns="0" tIns="0" bIns="0">
            <a:spAutoFit/>
          </a:bodyPr>
          <a:lstStyle/>
          <a:p>
            <a:pPr>
              <a:lnSpc>
                <a:spcPct val="117000"/>
              </a:lnSpc>
              <a:spcBef>
                <a:spcPts val="0"/>
              </a:spcBef>
              <a:spcAft>
                <a:spcPts val="0"/>
              </a:spcAft>
              <a:defRPr sz="2000" b="0">
                <a:solidFill>
                  <a:srgbClr val="262626"/>
                </a:solidFill>
                <a:latin typeface="Liberation Sans"/>
              </a:defRPr>
            </a:pPr>
            <a:r>
              <a:t>Tests cover boundaries,</a:t>
            </a:r>
          </a:p>
          <a:p>
            <a:pPr>
              <a:lnSpc>
                <a:spcPct val="117000"/>
              </a:lnSpc>
              <a:spcBef>
                <a:spcPts val="0"/>
              </a:spcBef>
              <a:spcAft>
                <a:spcPts val="0"/>
              </a:spcAft>
              <a:defRPr sz="2000" b="0">
                <a:solidFill>
                  <a:srgbClr val="262626"/>
                </a:solidFill>
                <a:latin typeface="Liberation Sans"/>
              </a:defRPr>
            </a:pPr>
            <a:r>
              <a:t>saved review actions and</a:t>
            </a:r>
          </a:p>
          <a:p>
            <a:pPr>
              <a:lnSpc>
                <a:spcPct val="117000"/>
              </a:lnSpc>
              <a:spcBef>
                <a:spcPts val="0"/>
              </a:spcBef>
              <a:spcAft>
                <a:spcPts val="0"/>
              </a:spcAft>
              <a:defRPr sz="2000" b="0">
                <a:solidFill>
                  <a:srgbClr val="262626"/>
                </a:solidFill>
                <a:latin typeface="Liberation Sans"/>
              </a:defRPr>
            </a:pPr>
            <a:r>
              <a:t>screens.</a:t>
            </a:r>
          </a:p>
        </p:txBody>
      </p:sp>
      <p:sp>
        <p:nvSpPr>
          <p:cNvPr id="21" name="TextBox 20"/>
          <p:cNvSpPr txBox="1"/>
          <p:nvPr/>
        </p:nvSpPr>
        <p:spPr>
          <a:xfrm>
            <a:off x="2458720" y="6532880"/>
            <a:ext cx="11277600" cy="422554"/>
          </a:xfrm>
          <a:prstGeom prst="rect">
            <a:avLst/>
          </a:prstGeom>
          <a:noFill/>
        </p:spPr>
        <p:txBody>
          <a:bodyPr wrap="none" lIns="0" rIns="0" tIns="0" bIns="0">
            <a:spAutoFit/>
          </a:bodyPr>
          <a:lstStyle/>
          <a:p>
            <a:pPr>
              <a:lnSpc>
                <a:spcPct val="117000"/>
              </a:lnSpc>
              <a:spcBef>
                <a:spcPts val="0"/>
              </a:spcBef>
              <a:spcAft>
                <a:spcPts val="0"/>
              </a:spcAft>
              <a:defRPr sz="2160" b="1">
                <a:solidFill>
                  <a:srgbClr val="262626"/>
                </a:solidFill>
                <a:latin typeface="Liberation Sans"/>
              </a:defRPr>
            </a:pPr>
            <a:r>
              <a:t>Tests check behaviour. They do not prove detection accuracy.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7F7"/>
        </a:solidFill>
        <a:effectLst/>
      </p:bgPr>
    </p:bg>
    <p:spTree>
      <p:nvGrpSpPr>
        <p:cNvPr id="1" name=""/>
        <p:cNvGrpSpPr/>
        <p:nvPr/>
      </p:nvGrpSpPr>
      <p:grpSpPr/>
      <p:sp>
        <p:nvSpPr>
          <p:cNvPr id="2" name="Rounded Rectangle 1"/>
          <p:cNvSpPr/>
          <p:nvPr/>
        </p:nvSpPr>
        <p:spPr>
          <a:xfrm>
            <a:off x="-508000" y="0"/>
            <a:ext cx="12131040" cy="762000"/>
          </a:xfrm>
          <a:prstGeom prst="roundRect">
            <a:avLst>
              <a:gd name="adj" fmla="val 50000"/>
            </a:avLst>
          </a:prstGeom>
          <a:solidFill>
            <a:srgbClr val="F8D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8000" y="0"/>
            <a:ext cx="11003280" cy="76200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8000" y="0"/>
            <a:ext cx="9875520" cy="762000"/>
          </a:xfrm>
          <a:prstGeom prst="roundRect">
            <a:avLst>
              <a:gd name="adj" fmla="val 50000"/>
            </a:avLst>
          </a:prstGeom>
          <a:solidFill>
            <a:srgbClr val="F6A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8000" y="0"/>
            <a:ext cx="8747760" cy="762000"/>
          </a:xfrm>
          <a:prstGeom prst="roundRect">
            <a:avLst>
              <a:gd name="adj" fmla="val 50000"/>
            </a:avLst>
          </a:prstGeom>
          <a:solidFill>
            <a:srgbClr val="F68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8000" y="0"/>
            <a:ext cx="7620000" cy="762000"/>
          </a:xfrm>
          <a:prstGeom prst="roundRect">
            <a:avLst>
              <a:gd name="adj" fmla="val 50000"/>
            </a:avLst>
          </a:prstGeom>
          <a:solidFill>
            <a:srgbClr val="F47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8000" y="0"/>
            <a:ext cx="6492240" cy="76200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rot="18900000">
            <a:off x="792480" y="1524000"/>
            <a:ext cx="843280" cy="29464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rot="2700000">
            <a:off x="792480" y="1524000"/>
            <a:ext cx="843280" cy="29464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58720" y="1320800"/>
            <a:ext cx="11297920" cy="826719"/>
          </a:xfrm>
          <a:prstGeom prst="rect">
            <a:avLst/>
          </a:prstGeom>
          <a:noFill/>
        </p:spPr>
        <p:txBody>
          <a:bodyPr wrap="none" lIns="0" rIns="0" tIns="0" bIns="0">
            <a:spAutoFit/>
          </a:bodyPr>
          <a:lstStyle/>
          <a:p>
            <a:pPr>
              <a:lnSpc>
                <a:spcPct val="117000"/>
              </a:lnSpc>
              <a:spcBef>
                <a:spcPts val="0"/>
              </a:spcBef>
              <a:spcAft>
                <a:spcPts val="0"/>
              </a:spcAft>
              <a:defRPr sz="4880" b="1">
                <a:solidFill>
                  <a:srgbClr val="262626"/>
                </a:solidFill>
                <a:latin typeface="Liberation Sans"/>
              </a:defRPr>
            </a:pPr>
            <a:r>
              <a:t>Working now. Planned next.</a:t>
            </a:r>
          </a:p>
        </p:txBody>
      </p:sp>
      <p:sp>
        <p:nvSpPr>
          <p:cNvPr id="11" name="Rectangle 10"/>
          <p:cNvSpPr/>
          <p:nvPr/>
        </p:nvSpPr>
        <p:spPr>
          <a:xfrm>
            <a:off x="0" y="7487919"/>
            <a:ext cx="13888720" cy="10160"/>
          </a:xfrm>
          <a:prstGeom prst="rect">
            <a:avLst/>
          </a:prstGeom>
          <a:solidFill>
            <a:srgbClr val="858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1840" y="7701280"/>
            <a:ext cx="711200" cy="320040"/>
          </a:xfrm>
          <a:prstGeom prst="rect">
            <a:avLst/>
          </a:prstGeom>
          <a:noFill/>
        </p:spPr>
        <p:txBody>
          <a:bodyPr wrap="none" lIns="0" tIns="0">
            <a:spAutoFit/>
          </a:bodyPr>
          <a:lstStyle/>
          <a:p>
            <a:pPr>
              <a:defRPr sz="1800" b="1">
                <a:solidFill>
                  <a:srgbClr val="F2620F"/>
                </a:solidFill>
                <a:latin typeface="Liberation Sans"/>
              </a:defRPr>
            </a:pPr>
            <a:r>
              <a:t>11.</a:t>
            </a:r>
          </a:p>
        </p:txBody>
      </p:sp>
      <p:sp>
        <p:nvSpPr>
          <p:cNvPr id="13" name="TextBox 12"/>
          <p:cNvSpPr txBox="1"/>
          <p:nvPr/>
        </p:nvSpPr>
        <p:spPr>
          <a:xfrm>
            <a:off x="2458720" y="7701280"/>
            <a:ext cx="6096000" cy="320040"/>
          </a:xfrm>
          <a:prstGeom prst="rect">
            <a:avLst/>
          </a:prstGeom>
          <a:noFill/>
        </p:spPr>
        <p:txBody>
          <a:bodyPr wrap="none" lIns="0" tIns="0">
            <a:spAutoFit/>
          </a:bodyPr>
          <a:lstStyle/>
          <a:p>
            <a:pPr>
              <a:defRPr sz="1400" b="0">
                <a:solidFill>
                  <a:srgbClr val="575757"/>
                </a:solidFill>
                <a:latin typeface="Liberation Sans"/>
              </a:defRPr>
            </a:pPr>
            <a:r>
              <a:t>FINTRACE / PROJECT DEMO</a:t>
            </a:r>
          </a:p>
        </p:txBody>
      </p:sp>
      <p:sp>
        <p:nvSpPr>
          <p:cNvPr id="14" name="TextBox 13"/>
          <p:cNvSpPr txBox="1"/>
          <p:nvPr/>
        </p:nvSpPr>
        <p:spPr>
          <a:xfrm>
            <a:off x="11887200" y="7701280"/>
            <a:ext cx="2032000" cy="320040"/>
          </a:xfrm>
          <a:prstGeom prst="rect">
            <a:avLst/>
          </a:prstGeom>
          <a:noFill/>
        </p:spPr>
        <p:txBody>
          <a:bodyPr wrap="none" lIns="0" tIns="0">
            <a:spAutoFit/>
          </a:bodyPr>
          <a:lstStyle/>
          <a:p>
            <a:pPr>
              <a:defRPr sz="1400" b="0">
                <a:solidFill>
                  <a:srgbClr val="262626"/>
                </a:solidFill>
                <a:latin typeface="Liberation Sans"/>
              </a:defRPr>
            </a:pPr>
            <a:r>
              <a:t>PERSON 4</a:t>
            </a:r>
          </a:p>
        </p:txBody>
      </p:sp>
      <p:sp>
        <p:nvSpPr>
          <p:cNvPr id="15" name="TextBox 14"/>
          <p:cNvSpPr txBox="1"/>
          <p:nvPr/>
        </p:nvSpPr>
        <p:spPr>
          <a:xfrm>
            <a:off x="2458720" y="3505200"/>
            <a:ext cx="5359400" cy="446328"/>
          </a:xfrm>
          <a:prstGeom prst="rect">
            <a:avLst/>
          </a:prstGeom>
          <a:noFill/>
        </p:spPr>
        <p:txBody>
          <a:bodyPr wrap="none" lIns="0" rIns="0" tIns="0" bIns="0">
            <a:spAutoFit/>
          </a:bodyPr>
          <a:lstStyle/>
          <a:p>
            <a:pPr>
              <a:lnSpc>
                <a:spcPct val="117000"/>
              </a:lnSpc>
              <a:spcBef>
                <a:spcPts val="0"/>
              </a:spcBef>
              <a:spcAft>
                <a:spcPts val="0"/>
              </a:spcAft>
              <a:defRPr sz="2320" b="1">
                <a:solidFill>
                  <a:srgbClr val="262626"/>
                </a:solidFill>
                <a:latin typeface="Liberation Sans"/>
              </a:defRPr>
            </a:pPr>
            <a:r>
              <a:t>Working now</a:t>
            </a:r>
          </a:p>
        </p:txBody>
      </p:sp>
      <p:sp>
        <p:nvSpPr>
          <p:cNvPr id="16" name="TextBox 15"/>
          <p:cNvSpPr txBox="1"/>
          <p:nvPr/>
        </p:nvSpPr>
        <p:spPr>
          <a:xfrm>
            <a:off x="2458720" y="4155440"/>
            <a:ext cx="5359400" cy="1290320"/>
          </a:xfrm>
          <a:prstGeom prst="rect">
            <a:avLst/>
          </a:prstGeom>
          <a:noFill/>
        </p:spPr>
        <p:txBody>
          <a:bodyPr wrap="none" lIns="0" rIns="0" tIns="0" bIns="0">
            <a:spAutoFit/>
          </a:bodyPr>
          <a:lstStyle/>
          <a:p>
            <a:pPr>
              <a:lnSpc>
                <a:spcPct val="117000"/>
              </a:lnSpc>
              <a:spcBef>
                <a:spcPts val="0"/>
              </a:spcBef>
              <a:spcAft>
                <a:spcPts val="0"/>
              </a:spcAft>
              <a:defRPr sz="2000" b="0">
                <a:solidFill>
                  <a:srgbClr val="262626"/>
                </a:solidFill>
                <a:latin typeface="Liberation Sans"/>
              </a:defRPr>
            </a:pPr>
            <a:r>
              <a:t>Prepared data and evidence</a:t>
            </a:r>
          </a:p>
          <a:p>
            <a:pPr>
              <a:lnSpc>
                <a:spcPct val="117000"/>
              </a:lnSpc>
              <a:spcBef>
                <a:spcPts val="0"/>
              </a:spcBef>
              <a:spcAft>
                <a:spcPts val="0"/>
              </a:spcAft>
              <a:defRPr sz="2000" b="0">
                <a:solidFill>
                  <a:srgbClr val="262626"/>
                </a:solidFill>
                <a:latin typeface="Liberation Sans"/>
              </a:defRPr>
            </a:pPr>
            <a:r>
              <a:t>Rules and bounded graphs</a:t>
            </a:r>
          </a:p>
          <a:p>
            <a:pPr>
              <a:lnSpc>
                <a:spcPct val="117000"/>
              </a:lnSpc>
              <a:spcBef>
                <a:spcPts val="0"/>
              </a:spcBef>
              <a:spcAft>
                <a:spcPts val="0"/>
              </a:spcAft>
              <a:defRPr sz="2000" b="0">
                <a:solidFill>
                  <a:srgbClr val="262626"/>
                </a:solidFill>
                <a:latin typeface="Liberation Sans"/>
              </a:defRPr>
            </a:pPr>
            <a:r>
              <a:t>Priorities and four app screens</a:t>
            </a:r>
          </a:p>
          <a:p>
            <a:pPr>
              <a:lnSpc>
                <a:spcPct val="117000"/>
              </a:lnSpc>
              <a:spcBef>
                <a:spcPts val="0"/>
              </a:spcBef>
              <a:spcAft>
                <a:spcPts val="0"/>
              </a:spcAft>
              <a:defRPr sz="2000" b="0">
                <a:solidFill>
                  <a:srgbClr val="262626"/>
                </a:solidFill>
                <a:latin typeface="Liberation Sans"/>
              </a:defRPr>
            </a:pPr>
            <a:r>
              <a:t>Audited alert review</a:t>
            </a:r>
          </a:p>
        </p:txBody>
      </p:sp>
      <p:sp>
        <p:nvSpPr>
          <p:cNvPr id="17" name="TextBox 16"/>
          <p:cNvSpPr txBox="1"/>
          <p:nvPr/>
        </p:nvSpPr>
        <p:spPr>
          <a:xfrm>
            <a:off x="8376920" y="3505200"/>
            <a:ext cx="5359400" cy="446328"/>
          </a:xfrm>
          <a:prstGeom prst="rect">
            <a:avLst/>
          </a:prstGeom>
          <a:noFill/>
        </p:spPr>
        <p:txBody>
          <a:bodyPr wrap="none" lIns="0" rIns="0" tIns="0" bIns="0">
            <a:spAutoFit/>
          </a:bodyPr>
          <a:lstStyle/>
          <a:p>
            <a:pPr>
              <a:lnSpc>
                <a:spcPct val="117000"/>
              </a:lnSpc>
              <a:spcBef>
                <a:spcPts val="0"/>
              </a:spcBef>
              <a:spcAft>
                <a:spcPts val="0"/>
              </a:spcAft>
              <a:defRPr sz="2320" b="1">
                <a:solidFill>
                  <a:srgbClr val="262626"/>
                </a:solidFill>
                <a:latin typeface="Liberation Sans"/>
              </a:defRPr>
            </a:pPr>
            <a:r>
              <a:t>Future work</a:t>
            </a:r>
          </a:p>
        </p:txBody>
      </p:sp>
      <p:sp>
        <p:nvSpPr>
          <p:cNvPr id="18" name="TextBox 17"/>
          <p:cNvSpPr txBox="1"/>
          <p:nvPr/>
        </p:nvSpPr>
        <p:spPr>
          <a:xfrm>
            <a:off x="8376920" y="4155440"/>
            <a:ext cx="5359400" cy="1290320"/>
          </a:xfrm>
          <a:prstGeom prst="rect">
            <a:avLst/>
          </a:prstGeom>
          <a:noFill/>
        </p:spPr>
        <p:txBody>
          <a:bodyPr wrap="none" lIns="0" rIns="0" tIns="0" bIns="0">
            <a:spAutoFit/>
          </a:bodyPr>
          <a:lstStyle/>
          <a:p>
            <a:pPr>
              <a:lnSpc>
                <a:spcPct val="117000"/>
              </a:lnSpc>
              <a:spcBef>
                <a:spcPts val="0"/>
              </a:spcBef>
              <a:spcAft>
                <a:spcPts val="0"/>
              </a:spcAft>
              <a:defRPr sz="2000" b="0">
                <a:solidFill>
                  <a:srgbClr val="262626"/>
                </a:solidFill>
                <a:latin typeface="Liberation Sans"/>
              </a:defRPr>
            </a:pPr>
            <a:r>
              <a:t>Complete case management</a:t>
            </a:r>
          </a:p>
          <a:p>
            <a:pPr>
              <a:lnSpc>
                <a:spcPct val="117000"/>
              </a:lnSpc>
              <a:spcBef>
                <a:spcPts val="0"/>
              </a:spcBef>
              <a:spcAft>
                <a:spcPts val="0"/>
              </a:spcAft>
              <a:defRPr sz="2000" b="0">
                <a:solidFill>
                  <a:srgbClr val="262626"/>
                </a:solidFill>
                <a:latin typeface="Liberation Sans"/>
              </a:defRPr>
            </a:pPr>
            <a:r>
              <a:t>General evidence reports</a:t>
            </a:r>
          </a:p>
          <a:p>
            <a:pPr>
              <a:lnSpc>
                <a:spcPct val="117000"/>
              </a:lnSpc>
              <a:spcBef>
                <a:spcPts val="0"/>
              </a:spcBef>
              <a:spcAft>
                <a:spcPts val="0"/>
              </a:spcAft>
              <a:defRPr sz="2000" b="0">
                <a:solidFill>
                  <a:srgbClr val="262626"/>
                </a:solidFill>
                <a:latin typeface="Liberation Sans"/>
              </a:defRPr>
            </a:pPr>
            <a:r>
              <a:t>Historical replay</a:t>
            </a:r>
          </a:p>
          <a:p>
            <a:pPr>
              <a:lnSpc>
                <a:spcPct val="117000"/>
              </a:lnSpc>
              <a:spcBef>
                <a:spcPts val="0"/>
              </a:spcBef>
              <a:spcAft>
                <a:spcPts val="0"/>
              </a:spcAft>
              <a:defRPr sz="2000" b="0">
                <a:solidFill>
                  <a:srgbClr val="262626"/>
                </a:solidFill>
                <a:latin typeface="Liberation Sans"/>
              </a:defRPr>
            </a:pPr>
            <a:r>
              <a:t>Benchmark evaluation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7F7"/>
        </a:solidFill>
        <a:effectLst/>
      </p:bgPr>
    </p:bg>
    <p:spTree>
      <p:nvGrpSpPr>
        <p:cNvPr id="1" name=""/>
        <p:cNvGrpSpPr/>
        <p:nvPr/>
      </p:nvGrpSpPr>
      <p:grpSpPr/>
      <p:sp>
        <p:nvSpPr>
          <p:cNvPr id="2" name="Rounded Rectangle 1"/>
          <p:cNvSpPr/>
          <p:nvPr/>
        </p:nvSpPr>
        <p:spPr>
          <a:xfrm>
            <a:off x="-508000" y="0"/>
            <a:ext cx="12131040" cy="762000"/>
          </a:xfrm>
          <a:prstGeom prst="roundRect">
            <a:avLst>
              <a:gd name="adj" fmla="val 50000"/>
            </a:avLst>
          </a:prstGeom>
          <a:solidFill>
            <a:srgbClr val="F8D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8000" y="0"/>
            <a:ext cx="11003280" cy="76200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8000" y="0"/>
            <a:ext cx="9875520" cy="762000"/>
          </a:xfrm>
          <a:prstGeom prst="roundRect">
            <a:avLst>
              <a:gd name="adj" fmla="val 50000"/>
            </a:avLst>
          </a:prstGeom>
          <a:solidFill>
            <a:srgbClr val="F6A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8000" y="0"/>
            <a:ext cx="8747760" cy="762000"/>
          </a:xfrm>
          <a:prstGeom prst="roundRect">
            <a:avLst>
              <a:gd name="adj" fmla="val 50000"/>
            </a:avLst>
          </a:prstGeom>
          <a:solidFill>
            <a:srgbClr val="F68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8000" y="0"/>
            <a:ext cx="7620000" cy="762000"/>
          </a:xfrm>
          <a:prstGeom prst="roundRect">
            <a:avLst>
              <a:gd name="adj" fmla="val 50000"/>
            </a:avLst>
          </a:prstGeom>
          <a:solidFill>
            <a:srgbClr val="F47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8000" y="0"/>
            <a:ext cx="6492240" cy="76200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rot="18900000">
            <a:off x="792480" y="2651760"/>
            <a:ext cx="843280" cy="294640"/>
          </a:xfrm>
          <a:prstGeom prst="roundRect">
            <a:avLst>
              <a:gd name="adj" fmla="val 50000"/>
            </a:avLst>
          </a:prstGeom>
          <a:solidFill>
            <a:srgbClr val="F7B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rot="2700000">
            <a:off x="792480" y="2651760"/>
            <a:ext cx="843280" cy="294640"/>
          </a:xfrm>
          <a:prstGeom prst="roundRect">
            <a:avLst>
              <a:gd name="adj" fmla="val 50000"/>
            </a:avLst>
          </a:prstGeom>
          <a:solidFill>
            <a:srgbClr val="F26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58720" y="2458720"/>
            <a:ext cx="11297920" cy="2193747"/>
          </a:xfrm>
          <a:prstGeom prst="rect">
            <a:avLst/>
          </a:prstGeom>
          <a:noFill/>
        </p:spPr>
        <p:txBody>
          <a:bodyPr wrap="none" lIns="0" rIns="0" tIns="0" bIns="0">
            <a:spAutoFit/>
          </a:bodyPr>
          <a:lstStyle/>
          <a:p>
            <a:pPr>
              <a:lnSpc>
                <a:spcPct val="117000"/>
              </a:lnSpc>
              <a:spcBef>
                <a:spcPts val="0"/>
              </a:spcBef>
              <a:spcAft>
                <a:spcPts val="0"/>
              </a:spcAft>
              <a:defRPr sz="7040" b="1">
                <a:solidFill>
                  <a:srgbClr val="262626"/>
                </a:solidFill>
                <a:latin typeface="Liberation Sans"/>
              </a:defRPr>
            </a:pPr>
            <a:r>
              <a:t>Show the evidence.</a:t>
            </a:r>
          </a:p>
          <a:p>
            <a:pPr>
              <a:lnSpc>
                <a:spcPct val="117000"/>
              </a:lnSpc>
              <a:spcBef>
                <a:spcPts val="0"/>
              </a:spcBef>
              <a:spcAft>
                <a:spcPts val="0"/>
              </a:spcAft>
              <a:defRPr sz="7040" b="1">
                <a:solidFill>
                  <a:srgbClr val="262626"/>
                </a:solidFill>
                <a:latin typeface="Liberation Sans"/>
              </a:defRPr>
            </a:pPr>
            <a:r>
              <a:t>Keep the human decision.</a:t>
            </a:r>
          </a:p>
        </p:txBody>
      </p:sp>
      <p:sp>
        <p:nvSpPr>
          <p:cNvPr id="11" name="Rectangle 10"/>
          <p:cNvSpPr/>
          <p:nvPr/>
        </p:nvSpPr>
        <p:spPr>
          <a:xfrm>
            <a:off x="0" y="7487919"/>
            <a:ext cx="13888720" cy="10160"/>
          </a:xfrm>
          <a:prstGeom prst="rect">
            <a:avLst/>
          </a:prstGeom>
          <a:solidFill>
            <a:srgbClr val="858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1840" y="7701280"/>
            <a:ext cx="711200" cy="320040"/>
          </a:xfrm>
          <a:prstGeom prst="rect">
            <a:avLst/>
          </a:prstGeom>
          <a:noFill/>
        </p:spPr>
        <p:txBody>
          <a:bodyPr wrap="none" lIns="0" tIns="0">
            <a:spAutoFit/>
          </a:bodyPr>
          <a:lstStyle/>
          <a:p>
            <a:pPr>
              <a:defRPr sz="1800" b="1">
                <a:solidFill>
                  <a:srgbClr val="F2620F"/>
                </a:solidFill>
                <a:latin typeface="Liberation Sans"/>
              </a:defRPr>
            </a:pPr>
            <a:r>
              <a:t>12.</a:t>
            </a:r>
          </a:p>
        </p:txBody>
      </p:sp>
      <p:sp>
        <p:nvSpPr>
          <p:cNvPr id="13" name="TextBox 12"/>
          <p:cNvSpPr txBox="1"/>
          <p:nvPr/>
        </p:nvSpPr>
        <p:spPr>
          <a:xfrm>
            <a:off x="2458720" y="7701280"/>
            <a:ext cx="6096000" cy="320040"/>
          </a:xfrm>
          <a:prstGeom prst="rect">
            <a:avLst/>
          </a:prstGeom>
          <a:noFill/>
        </p:spPr>
        <p:txBody>
          <a:bodyPr wrap="none" lIns="0" tIns="0">
            <a:spAutoFit/>
          </a:bodyPr>
          <a:lstStyle/>
          <a:p>
            <a:pPr>
              <a:defRPr sz="1400" b="0">
                <a:solidFill>
                  <a:srgbClr val="575757"/>
                </a:solidFill>
                <a:latin typeface="Liberation Sans"/>
              </a:defRPr>
            </a:pPr>
            <a:r>
              <a:t>FINTRACE / PROJECT DEMO</a:t>
            </a:r>
          </a:p>
        </p:txBody>
      </p:sp>
      <p:sp>
        <p:nvSpPr>
          <p:cNvPr id="14" name="TextBox 13"/>
          <p:cNvSpPr txBox="1"/>
          <p:nvPr/>
        </p:nvSpPr>
        <p:spPr>
          <a:xfrm>
            <a:off x="11887200" y="7701280"/>
            <a:ext cx="2032000" cy="320040"/>
          </a:xfrm>
          <a:prstGeom prst="rect">
            <a:avLst/>
          </a:prstGeom>
          <a:noFill/>
        </p:spPr>
        <p:txBody>
          <a:bodyPr wrap="none" lIns="0" tIns="0">
            <a:spAutoFit/>
          </a:bodyPr>
          <a:lstStyle/>
          <a:p>
            <a:pPr>
              <a:defRPr sz="1400" b="0">
                <a:solidFill>
                  <a:srgbClr val="262626"/>
                </a:solidFill>
                <a:latin typeface="Liberation Sans"/>
              </a:defRPr>
            </a:pPr>
            <a:r>
              <a:t>ALL FOUR</a:t>
            </a:r>
          </a:p>
        </p:txBody>
      </p:sp>
      <p:sp>
        <p:nvSpPr>
          <p:cNvPr id="15" name="TextBox 14"/>
          <p:cNvSpPr txBox="1"/>
          <p:nvPr/>
        </p:nvSpPr>
        <p:spPr>
          <a:xfrm>
            <a:off x="2458720" y="5140960"/>
            <a:ext cx="11176000" cy="909929"/>
          </a:xfrm>
          <a:prstGeom prst="rect">
            <a:avLst/>
          </a:prstGeom>
          <a:noFill/>
        </p:spPr>
        <p:txBody>
          <a:bodyPr wrap="none" lIns="0" rIns="0" tIns="0" bIns="0">
            <a:spAutoFit/>
          </a:bodyPr>
          <a:lstStyle/>
          <a:p>
            <a:pPr>
              <a:lnSpc>
                <a:spcPct val="117000"/>
              </a:lnSpc>
              <a:spcBef>
                <a:spcPts val="0"/>
              </a:spcBef>
              <a:spcAft>
                <a:spcPts val="0"/>
              </a:spcAft>
              <a:defRPr sz="2720" b="0">
                <a:solidFill>
                  <a:srgbClr val="262626"/>
                </a:solidFill>
                <a:latin typeface="Liberation Sans"/>
              </a:defRPr>
            </a:pPr>
            <a:r>
              <a:t>FinTrace</a:t>
            </a:r>
          </a:p>
          <a:p>
            <a:pPr>
              <a:lnSpc>
                <a:spcPct val="117000"/>
              </a:lnSpc>
              <a:spcBef>
                <a:spcPts val="0"/>
              </a:spcBef>
              <a:spcAft>
                <a:spcPts val="0"/>
              </a:spcAft>
              <a:defRPr sz="2720" b="0">
                <a:solidFill>
                  <a:srgbClr val="262626"/>
                </a:solidFill>
                <a:latin typeface="Liberation Sans"/>
              </a:defRPr>
            </a:pPr>
            <a:r>
              <a:t>Questions and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FinTrace  -  Follow the evidence</dc:title>
  <dc:subject>Four-person project demonstration</dc:subject>
  <dc:creator>FinTrace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